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Lst>
  <p:sldSz cx="32399288" cy="43200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C16C"/>
    <a:srgbClr val="39A900"/>
    <a:srgbClr val="91D397"/>
    <a:srgbClr val="F1F1F1"/>
    <a:srgbClr val="F2F2F2"/>
    <a:srgbClr val="0032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p:cViewPr varScale="1">
        <p:scale>
          <a:sx n="15" d="100"/>
          <a:sy n="15" d="100"/>
        </p:scale>
        <p:origin x="2232"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429947" y="7070108"/>
            <a:ext cx="27539395" cy="15040222"/>
          </a:xfrm>
        </p:spPr>
        <p:txBody>
          <a:bodyPr anchor="b"/>
          <a:lstStyle>
            <a:lvl1pPr algn="ctr">
              <a:defRPr sz="21259"/>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4049911" y="22690338"/>
            <a:ext cx="24299466" cy="10430151"/>
          </a:xfrm>
        </p:spPr>
        <p:txBody>
          <a:bodyPr/>
          <a:lstStyle>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131B14EB-8869-4818-9F95-BA517C2AE9DC}" type="datetimeFigureOut">
              <a:rPr lang="es-CO" smtClean="0"/>
              <a:t>14/04/2026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1071E3D0-2793-40AB-8310-F8C97E02A388}" type="slidenum">
              <a:rPr lang="es-CO" smtClean="0"/>
              <a:t>‹Nº›</a:t>
            </a:fld>
            <a:endParaRPr lang="es-CO"/>
          </a:p>
        </p:txBody>
      </p:sp>
    </p:spTree>
    <p:extLst>
      <p:ext uri="{BB962C8B-B14F-4D97-AF65-F5344CB8AC3E}">
        <p14:creationId xmlns:p14="http://schemas.microsoft.com/office/powerpoint/2010/main" val="49958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31B14EB-8869-4818-9F95-BA517C2AE9DC}" type="datetimeFigureOut">
              <a:rPr lang="es-CO" smtClean="0"/>
              <a:t>14/04/2026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1071E3D0-2793-40AB-8310-F8C97E02A388}" type="slidenum">
              <a:rPr lang="es-CO" smtClean="0"/>
              <a:t>‹Nº›</a:t>
            </a:fld>
            <a:endParaRPr lang="es-CO"/>
          </a:p>
        </p:txBody>
      </p:sp>
    </p:spTree>
    <p:extLst>
      <p:ext uri="{BB962C8B-B14F-4D97-AF65-F5344CB8AC3E}">
        <p14:creationId xmlns:p14="http://schemas.microsoft.com/office/powerpoint/2010/main" val="2601137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210578" y="10770172"/>
            <a:ext cx="27944386" cy="17970262"/>
          </a:xfrm>
        </p:spPr>
        <p:txBody>
          <a:bodyPr anchor="b"/>
          <a:lstStyle>
            <a:lvl1pPr>
              <a:defRPr sz="21259"/>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210578" y="28910440"/>
            <a:ext cx="27944386" cy="9450136"/>
          </a:xfrm>
        </p:spPr>
        <p:txBody>
          <a:bodyPr/>
          <a:lstStyle>
            <a:lvl1pPr marL="0" indent="0">
              <a:buNone/>
              <a:defRPr sz="8504">
                <a:solidFill>
                  <a:schemeClr val="tx1"/>
                </a:solidFill>
              </a:defRPr>
            </a:lvl1pPr>
            <a:lvl2pPr marL="1619951" indent="0">
              <a:buNone/>
              <a:defRPr sz="7086">
                <a:solidFill>
                  <a:schemeClr val="tx1">
                    <a:tint val="75000"/>
                  </a:schemeClr>
                </a:solidFill>
              </a:defRPr>
            </a:lvl2pPr>
            <a:lvl3pPr marL="3239902" indent="0">
              <a:buNone/>
              <a:defRPr sz="6378">
                <a:solidFill>
                  <a:schemeClr val="tx1">
                    <a:tint val="75000"/>
                  </a:schemeClr>
                </a:solidFill>
              </a:defRPr>
            </a:lvl3pPr>
            <a:lvl4pPr marL="4859853" indent="0">
              <a:buNone/>
              <a:defRPr sz="5669">
                <a:solidFill>
                  <a:schemeClr val="tx1">
                    <a:tint val="75000"/>
                  </a:schemeClr>
                </a:solidFill>
              </a:defRPr>
            </a:lvl4pPr>
            <a:lvl5pPr marL="6479804" indent="0">
              <a:buNone/>
              <a:defRPr sz="5669">
                <a:solidFill>
                  <a:schemeClr val="tx1">
                    <a:tint val="75000"/>
                  </a:schemeClr>
                </a:solidFill>
              </a:defRPr>
            </a:lvl5pPr>
            <a:lvl6pPr marL="8099755" indent="0">
              <a:buNone/>
              <a:defRPr sz="5669">
                <a:solidFill>
                  <a:schemeClr val="tx1">
                    <a:tint val="75000"/>
                  </a:schemeClr>
                </a:solidFill>
              </a:defRPr>
            </a:lvl6pPr>
            <a:lvl7pPr marL="9719706" indent="0">
              <a:buNone/>
              <a:defRPr sz="5669">
                <a:solidFill>
                  <a:schemeClr val="tx1">
                    <a:tint val="75000"/>
                  </a:schemeClr>
                </a:solidFill>
              </a:defRPr>
            </a:lvl7pPr>
            <a:lvl8pPr marL="11339657" indent="0">
              <a:buNone/>
              <a:defRPr sz="5669">
                <a:solidFill>
                  <a:schemeClr val="tx1">
                    <a:tint val="75000"/>
                  </a:schemeClr>
                </a:solidFill>
              </a:defRPr>
            </a:lvl8pPr>
            <a:lvl9pPr marL="12959608" indent="0">
              <a:buNone/>
              <a:defRPr sz="5669">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31B14EB-8869-4818-9F95-BA517C2AE9DC}" type="datetimeFigureOut">
              <a:rPr lang="es-CO" smtClean="0"/>
              <a:t>14/04/2026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1071E3D0-2793-40AB-8310-F8C97E02A388}" type="slidenum">
              <a:rPr lang="es-CO" smtClean="0"/>
              <a:t>‹Nº›</a:t>
            </a:fld>
            <a:endParaRPr lang="es-CO"/>
          </a:p>
        </p:txBody>
      </p:sp>
    </p:spTree>
    <p:extLst>
      <p:ext uri="{BB962C8B-B14F-4D97-AF65-F5344CB8AC3E}">
        <p14:creationId xmlns:p14="http://schemas.microsoft.com/office/powerpoint/2010/main" val="3240655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227451" y="11500170"/>
            <a:ext cx="13769697" cy="2741040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16402140" y="11500170"/>
            <a:ext cx="13769697" cy="2741040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31B14EB-8869-4818-9F95-BA517C2AE9DC}" type="datetimeFigureOut">
              <a:rPr lang="es-CO" smtClean="0"/>
              <a:t>14/04/2026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1071E3D0-2793-40AB-8310-F8C97E02A388}" type="slidenum">
              <a:rPr lang="es-CO" smtClean="0"/>
              <a:t>‹Nº›</a:t>
            </a:fld>
            <a:endParaRPr lang="es-CO"/>
          </a:p>
        </p:txBody>
      </p:sp>
    </p:spTree>
    <p:extLst>
      <p:ext uri="{BB962C8B-B14F-4D97-AF65-F5344CB8AC3E}">
        <p14:creationId xmlns:p14="http://schemas.microsoft.com/office/powerpoint/2010/main" val="3192901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2231671" y="2300044"/>
            <a:ext cx="27944386" cy="8350126"/>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231675" y="10590160"/>
            <a:ext cx="13706415" cy="5190073"/>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s-ES"/>
              <a:t>Haga clic para modificar los estilos de texto del patrón</a:t>
            </a:r>
          </a:p>
        </p:txBody>
      </p:sp>
      <p:sp>
        <p:nvSpPr>
          <p:cNvPr id="4" name="Content Placeholder 3"/>
          <p:cNvSpPr>
            <a:spLocks noGrp="1"/>
          </p:cNvSpPr>
          <p:nvPr>
            <p:ph sz="half" idx="2"/>
          </p:nvPr>
        </p:nvSpPr>
        <p:spPr>
          <a:xfrm>
            <a:off x="2231675" y="15780233"/>
            <a:ext cx="13706415" cy="2321034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16402142" y="10590160"/>
            <a:ext cx="13773917" cy="5190073"/>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s-ES"/>
              <a:t>Haga clic para modificar los estilos de texto del patrón</a:t>
            </a:r>
          </a:p>
        </p:txBody>
      </p:sp>
      <p:sp>
        <p:nvSpPr>
          <p:cNvPr id="6" name="Content Placeholder 5"/>
          <p:cNvSpPr>
            <a:spLocks noGrp="1"/>
          </p:cNvSpPr>
          <p:nvPr>
            <p:ph sz="quarter" idx="4"/>
          </p:nvPr>
        </p:nvSpPr>
        <p:spPr>
          <a:xfrm>
            <a:off x="16402142" y="15780233"/>
            <a:ext cx="13773917" cy="2321034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31B14EB-8869-4818-9F95-BA517C2AE9DC}" type="datetimeFigureOut">
              <a:rPr lang="es-CO" smtClean="0"/>
              <a:t>14/04/2026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1071E3D0-2793-40AB-8310-F8C97E02A388}" type="slidenum">
              <a:rPr lang="es-CO" smtClean="0"/>
              <a:t>‹Nº›</a:t>
            </a:fld>
            <a:endParaRPr lang="es-CO"/>
          </a:p>
        </p:txBody>
      </p:sp>
    </p:spTree>
    <p:extLst>
      <p:ext uri="{BB962C8B-B14F-4D97-AF65-F5344CB8AC3E}">
        <p14:creationId xmlns:p14="http://schemas.microsoft.com/office/powerpoint/2010/main" val="76922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31B14EB-8869-4818-9F95-BA517C2AE9DC}" type="datetimeFigureOut">
              <a:rPr lang="es-CO" smtClean="0"/>
              <a:t>14/04/2026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1071E3D0-2793-40AB-8310-F8C97E02A388}" type="slidenum">
              <a:rPr lang="es-CO" smtClean="0"/>
              <a:t>‹Nº›</a:t>
            </a:fld>
            <a:endParaRPr lang="es-CO"/>
          </a:p>
        </p:txBody>
      </p:sp>
    </p:spTree>
    <p:extLst>
      <p:ext uri="{BB962C8B-B14F-4D97-AF65-F5344CB8AC3E}">
        <p14:creationId xmlns:p14="http://schemas.microsoft.com/office/powerpoint/2010/main" val="2985189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1B14EB-8869-4818-9F95-BA517C2AE9DC}" type="datetimeFigureOut">
              <a:rPr lang="es-CO" smtClean="0"/>
              <a:t>14/04/2026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1071E3D0-2793-40AB-8310-F8C97E02A388}" type="slidenum">
              <a:rPr lang="es-CO" smtClean="0"/>
              <a:t>‹Nº›</a:t>
            </a:fld>
            <a:endParaRPr lang="es-CO"/>
          </a:p>
        </p:txBody>
      </p:sp>
    </p:spTree>
    <p:extLst>
      <p:ext uri="{BB962C8B-B14F-4D97-AF65-F5344CB8AC3E}">
        <p14:creationId xmlns:p14="http://schemas.microsoft.com/office/powerpoint/2010/main" val="1597781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1671" y="2880042"/>
            <a:ext cx="10449614" cy="10080149"/>
          </a:xfrm>
        </p:spPr>
        <p:txBody>
          <a:bodyPr anchor="b"/>
          <a:lstStyle>
            <a:lvl1pPr>
              <a:defRPr sz="11338"/>
            </a:lvl1pPr>
          </a:lstStyle>
          <a:p>
            <a:r>
              <a:rPr lang="es-ES"/>
              <a:t>Haga clic para modificar el estilo de título del patrón</a:t>
            </a:r>
            <a:endParaRPr lang="en-US" dirty="0"/>
          </a:p>
        </p:txBody>
      </p:sp>
      <p:sp>
        <p:nvSpPr>
          <p:cNvPr id="3" name="Content Placeholder 2"/>
          <p:cNvSpPr>
            <a:spLocks noGrp="1"/>
          </p:cNvSpPr>
          <p:nvPr>
            <p:ph idx="1"/>
          </p:nvPr>
        </p:nvSpPr>
        <p:spPr>
          <a:xfrm>
            <a:off x="13773917" y="6220102"/>
            <a:ext cx="16402140" cy="30700453"/>
          </a:xfrm>
        </p:spPr>
        <p:txBody>
          <a:bodyPr/>
          <a:lstStyle>
            <a:lvl1pPr>
              <a:defRPr sz="11338"/>
            </a:lvl1pPr>
            <a:lvl2pPr>
              <a:defRPr sz="9921"/>
            </a:lvl2pPr>
            <a:lvl3pPr>
              <a:defRPr sz="8504"/>
            </a:lvl3pPr>
            <a:lvl4pPr>
              <a:defRPr sz="7086"/>
            </a:lvl4pPr>
            <a:lvl5pPr>
              <a:defRPr sz="7086"/>
            </a:lvl5pPr>
            <a:lvl6pPr>
              <a:defRPr sz="7086"/>
            </a:lvl6pPr>
            <a:lvl7pPr>
              <a:defRPr sz="7086"/>
            </a:lvl7pPr>
            <a:lvl8pPr>
              <a:defRPr sz="7086"/>
            </a:lvl8pPr>
            <a:lvl9pPr>
              <a:defRPr sz="7086"/>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231671" y="12960191"/>
            <a:ext cx="10449614" cy="24010358"/>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31B14EB-8869-4818-9F95-BA517C2AE9DC}" type="datetimeFigureOut">
              <a:rPr lang="es-CO" smtClean="0"/>
              <a:t>14/04/2026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1071E3D0-2793-40AB-8310-F8C97E02A388}" type="slidenum">
              <a:rPr lang="es-CO" smtClean="0"/>
              <a:t>‹Nº›</a:t>
            </a:fld>
            <a:endParaRPr lang="es-CO"/>
          </a:p>
        </p:txBody>
      </p:sp>
    </p:spTree>
    <p:extLst>
      <p:ext uri="{BB962C8B-B14F-4D97-AF65-F5344CB8AC3E}">
        <p14:creationId xmlns:p14="http://schemas.microsoft.com/office/powerpoint/2010/main" val="553639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1671" y="2880042"/>
            <a:ext cx="10449614" cy="10080149"/>
          </a:xfrm>
        </p:spPr>
        <p:txBody>
          <a:bodyPr anchor="b"/>
          <a:lstStyle>
            <a:lvl1pPr>
              <a:defRPr sz="11338"/>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3773917" y="6220102"/>
            <a:ext cx="16402140" cy="30700453"/>
          </a:xfrm>
        </p:spPr>
        <p:txBody>
          <a:bodyPr anchor="t"/>
          <a:lstStyle>
            <a:lvl1pPr marL="0" indent="0">
              <a:buNone/>
              <a:defRPr sz="11338"/>
            </a:lvl1pPr>
            <a:lvl2pPr marL="1619951" indent="0">
              <a:buNone/>
              <a:defRPr sz="9921"/>
            </a:lvl2pPr>
            <a:lvl3pPr marL="3239902" indent="0">
              <a:buNone/>
              <a:defRPr sz="8504"/>
            </a:lvl3pPr>
            <a:lvl4pPr marL="4859853" indent="0">
              <a:buNone/>
              <a:defRPr sz="7086"/>
            </a:lvl4pPr>
            <a:lvl5pPr marL="6479804" indent="0">
              <a:buNone/>
              <a:defRPr sz="7086"/>
            </a:lvl5pPr>
            <a:lvl6pPr marL="8099755" indent="0">
              <a:buNone/>
              <a:defRPr sz="7086"/>
            </a:lvl6pPr>
            <a:lvl7pPr marL="9719706" indent="0">
              <a:buNone/>
              <a:defRPr sz="7086"/>
            </a:lvl7pPr>
            <a:lvl8pPr marL="11339657" indent="0">
              <a:buNone/>
              <a:defRPr sz="7086"/>
            </a:lvl8pPr>
            <a:lvl9pPr marL="12959608" indent="0">
              <a:buNone/>
              <a:defRPr sz="7086"/>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231671" y="12960191"/>
            <a:ext cx="10449614" cy="24010358"/>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31B14EB-8869-4818-9F95-BA517C2AE9DC}" type="datetimeFigureOut">
              <a:rPr lang="es-CO" smtClean="0"/>
              <a:t>14/04/2026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1071E3D0-2793-40AB-8310-F8C97E02A388}" type="slidenum">
              <a:rPr lang="es-CO" smtClean="0"/>
              <a:t>‹Nº›</a:t>
            </a:fld>
            <a:endParaRPr lang="es-CO"/>
          </a:p>
        </p:txBody>
      </p:sp>
    </p:spTree>
    <p:extLst>
      <p:ext uri="{BB962C8B-B14F-4D97-AF65-F5344CB8AC3E}">
        <p14:creationId xmlns:p14="http://schemas.microsoft.com/office/powerpoint/2010/main" val="4247687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31B14EB-8869-4818-9F95-BA517C2AE9DC}" type="datetimeFigureOut">
              <a:rPr lang="es-CO" smtClean="0"/>
              <a:t>14/04/2026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1071E3D0-2793-40AB-8310-F8C97E02A388}" type="slidenum">
              <a:rPr lang="es-CO" smtClean="0"/>
              <a:t>‹Nº›</a:t>
            </a:fld>
            <a:endParaRPr lang="es-CO"/>
          </a:p>
        </p:txBody>
      </p:sp>
    </p:spTree>
    <p:extLst>
      <p:ext uri="{BB962C8B-B14F-4D97-AF65-F5344CB8AC3E}">
        <p14:creationId xmlns:p14="http://schemas.microsoft.com/office/powerpoint/2010/main" val="1261967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185742" y="2300034"/>
            <a:ext cx="6986096" cy="3661054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227453" y="2300034"/>
            <a:ext cx="20553298" cy="3661054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31B14EB-8869-4818-9F95-BA517C2AE9DC}" type="datetimeFigureOut">
              <a:rPr lang="es-CO" smtClean="0"/>
              <a:t>14/04/2026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1071E3D0-2793-40AB-8310-F8C97E02A388}" type="slidenum">
              <a:rPr lang="es-CO" smtClean="0"/>
              <a:t>‹Nº›</a:t>
            </a:fld>
            <a:endParaRPr lang="es-CO"/>
          </a:p>
        </p:txBody>
      </p:sp>
    </p:spTree>
    <p:extLst>
      <p:ext uri="{BB962C8B-B14F-4D97-AF65-F5344CB8AC3E}">
        <p14:creationId xmlns:p14="http://schemas.microsoft.com/office/powerpoint/2010/main" val="1945536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7451" y="2300044"/>
            <a:ext cx="27944386" cy="8350126"/>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227451" y="11500170"/>
            <a:ext cx="27944386" cy="2741040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2227451" y="40040601"/>
            <a:ext cx="7289840" cy="2300034"/>
          </a:xfrm>
          <a:prstGeom prst="rect">
            <a:avLst/>
          </a:prstGeom>
        </p:spPr>
        <p:txBody>
          <a:bodyPr vert="horz" lIns="91440" tIns="45720" rIns="91440" bIns="45720" rtlCol="0" anchor="ctr"/>
          <a:lstStyle>
            <a:lvl1pPr algn="l">
              <a:defRPr sz="4252">
                <a:solidFill>
                  <a:schemeClr val="tx1">
                    <a:tint val="75000"/>
                  </a:schemeClr>
                </a:solidFill>
              </a:defRPr>
            </a:lvl1pPr>
          </a:lstStyle>
          <a:p>
            <a:fld id="{131B14EB-8869-4818-9F95-BA517C2AE9DC}" type="datetimeFigureOut">
              <a:rPr lang="es-CO" smtClean="0"/>
              <a:t>14/04/2026</a:t>
            </a:fld>
            <a:endParaRPr lang="es-CO"/>
          </a:p>
        </p:txBody>
      </p:sp>
      <p:sp>
        <p:nvSpPr>
          <p:cNvPr id="5" name="Footer Placeholder 4"/>
          <p:cNvSpPr>
            <a:spLocks noGrp="1"/>
          </p:cNvSpPr>
          <p:nvPr>
            <p:ph type="ftr" sz="quarter" idx="3"/>
          </p:nvPr>
        </p:nvSpPr>
        <p:spPr>
          <a:xfrm>
            <a:off x="10732264" y="40040601"/>
            <a:ext cx="10934760" cy="2300034"/>
          </a:xfrm>
          <a:prstGeom prst="rect">
            <a:avLst/>
          </a:prstGeom>
        </p:spPr>
        <p:txBody>
          <a:bodyPr vert="horz" lIns="91440" tIns="45720" rIns="91440" bIns="45720" rtlCol="0" anchor="ctr"/>
          <a:lstStyle>
            <a:lvl1pPr algn="ctr">
              <a:defRPr sz="4252">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22881997" y="40040601"/>
            <a:ext cx="7289840" cy="2300034"/>
          </a:xfrm>
          <a:prstGeom prst="rect">
            <a:avLst/>
          </a:prstGeom>
        </p:spPr>
        <p:txBody>
          <a:bodyPr vert="horz" lIns="91440" tIns="45720" rIns="91440" bIns="45720" rtlCol="0" anchor="ctr"/>
          <a:lstStyle>
            <a:lvl1pPr algn="r">
              <a:defRPr sz="4252">
                <a:solidFill>
                  <a:schemeClr val="tx1">
                    <a:tint val="75000"/>
                  </a:schemeClr>
                </a:solidFill>
              </a:defRPr>
            </a:lvl1pPr>
          </a:lstStyle>
          <a:p>
            <a:fld id="{1071E3D0-2793-40AB-8310-F8C97E02A388}" type="slidenum">
              <a:rPr lang="es-CO" smtClean="0"/>
              <a:t>‹Nº›</a:t>
            </a:fld>
            <a:endParaRPr lang="es-CO"/>
          </a:p>
        </p:txBody>
      </p:sp>
    </p:spTree>
    <p:extLst>
      <p:ext uri="{BB962C8B-B14F-4D97-AF65-F5344CB8AC3E}">
        <p14:creationId xmlns:p14="http://schemas.microsoft.com/office/powerpoint/2010/main" val="20678579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39902" rtl="0" eaLnBrk="1" latinLnBrk="0" hangingPunct="1">
        <a:lnSpc>
          <a:spcPct val="90000"/>
        </a:lnSpc>
        <a:spcBef>
          <a:spcPct val="0"/>
        </a:spcBef>
        <a:buNone/>
        <a:defRPr sz="15590" kern="1200">
          <a:solidFill>
            <a:schemeClr val="tx1"/>
          </a:solidFill>
          <a:latin typeface="+mj-lt"/>
          <a:ea typeface="+mj-ea"/>
          <a:cs typeface="+mj-cs"/>
        </a:defRPr>
      </a:lvl1pPr>
    </p:titleStyle>
    <p:bodyStyle>
      <a:lvl1pPr marL="809976" indent="-809976" algn="l" defTabSz="3239902" rtl="0" eaLnBrk="1" latinLnBrk="0" hangingPunct="1">
        <a:lnSpc>
          <a:spcPct val="90000"/>
        </a:lnSpc>
        <a:spcBef>
          <a:spcPts val="3543"/>
        </a:spcBef>
        <a:buFont typeface="Arial" panose="020B0604020202020204" pitchFamily="34" charset="0"/>
        <a:buChar char="•"/>
        <a:defRPr sz="9921" kern="1200">
          <a:solidFill>
            <a:schemeClr val="tx1"/>
          </a:solidFill>
          <a:latin typeface="+mn-lt"/>
          <a:ea typeface="+mn-ea"/>
          <a:cs typeface="+mn-cs"/>
        </a:defRPr>
      </a:lvl1pPr>
      <a:lvl2pPr marL="2429927" indent="-809976" algn="l" defTabSz="3239902" rtl="0" eaLnBrk="1" latinLnBrk="0" hangingPunct="1">
        <a:lnSpc>
          <a:spcPct val="90000"/>
        </a:lnSpc>
        <a:spcBef>
          <a:spcPts val="1772"/>
        </a:spcBef>
        <a:buFont typeface="Arial" panose="020B0604020202020204" pitchFamily="34" charset="0"/>
        <a:buChar char="•"/>
        <a:defRPr sz="8504" kern="1200">
          <a:solidFill>
            <a:schemeClr val="tx1"/>
          </a:solidFill>
          <a:latin typeface="+mn-lt"/>
          <a:ea typeface="+mn-ea"/>
          <a:cs typeface="+mn-cs"/>
        </a:defRPr>
      </a:lvl2pPr>
      <a:lvl3pPr marL="4049878" indent="-809976" algn="l" defTabSz="3239902" rtl="0" eaLnBrk="1" latinLnBrk="0" hangingPunct="1">
        <a:lnSpc>
          <a:spcPct val="90000"/>
        </a:lnSpc>
        <a:spcBef>
          <a:spcPts val="1772"/>
        </a:spcBef>
        <a:buFont typeface="Arial" panose="020B0604020202020204" pitchFamily="34" charset="0"/>
        <a:buChar char="•"/>
        <a:defRPr sz="7086" kern="1200">
          <a:solidFill>
            <a:schemeClr val="tx1"/>
          </a:solidFill>
          <a:latin typeface="+mn-lt"/>
          <a:ea typeface="+mn-ea"/>
          <a:cs typeface="+mn-cs"/>
        </a:defRPr>
      </a:lvl3pPr>
      <a:lvl4pPr marL="5669829"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4pPr>
      <a:lvl5pPr marL="7289780"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5pPr>
      <a:lvl6pPr marL="8909731"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6pPr>
      <a:lvl7pPr marL="10529682"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7pPr>
      <a:lvl8pPr marL="12149633"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8pPr>
      <a:lvl9pPr marL="13769584"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9pPr>
    </p:bodyStyle>
    <p:otherStyle>
      <a:defPPr>
        <a:defRPr lang="en-US"/>
      </a:defPPr>
      <a:lvl1pPr marL="0" algn="l" defTabSz="3239902" rtl="0" eaLnBrk="1" latinLnBrk="0" hangingPunct="1">
        <a:defRPr sz="6378" kern="1200">
          <a:solidFill>
            <a:schemeClr val="tx1"/>
          </a:solidFill>
          <a:latin typeface="+mn-lt"/>
          <a:ea typeface="+mn-ea"/>
          <a:cs typeface="+mn-cs"/>
        </a:defRPr>
      </a:lvl1pPr>
      <a:lvl2pPr marL="1619951" algn="l" defTabSz="3239902" rtl="0" eaLnBrk="1" latinLnBrk="0" hangingPunct="1">
        <a:defRPr sz="6378" kern="1200">
          <a:solidFill>
            <a:schemeClr val="tx1"/>
          </a:solidFill>
          <a:latin typeface="+mn-lt"/>
          <a:ea typeface="+mn-ea"/>
          <a:cs typeface="+mn-cs"/>
        </a:defRPr>
      </a:lvl2pPr>
      <a:lvl3pPr marL="3239902" algn="l" defTabSz="3239902" rtl="0" eaLnBrk="1" latinLnBrk="0" hangingPunct="1">
        <a:defRPr sz="6378" kern="1200">
          <a:solidFill>
            <a:schemeClr val="tx1"/>
          </a:solidFill>
          <a:latin typeface="+mn-lt"/>
          <a:ea typeface="+mn-ea"/>
          <a:cs typeface="+mn-cs"/>
        </a:defRPr>
      </a:lvl3pPr>
      <a:lvl4pPr marL="4859853" algn="l" defTabSz="3239902" rtl="0" eaLnBrk="1" latinLnBrk="0" hangingPunct="1">
        <a:defRPr sz="6378" kern="1200">
          <a:solidFill>
            <a:schemeClr val="tx1"/>
          </a:solidFill>
          <a:latin typeface="+mn-lt"/>
          <a:ea typeface="+mn-ea"/>
          <a:cs typeface="+mn-cs"/>
        </a:defRPr>
      </a:lvl4pPr>
      <a:lvl5pPr marL="6479804" algn="l" defTabSz="3239902" rtl="0" eaLnBrk="1" latinLnBrk="0" hangingPunct="1">
        <a:defRPr sz="6378" kern="1200">
          <a:solidFill>
            <a:schemeClr val="tx1"/>
          </a:solidFill>
          <a:latin typeface="+mn-lt"/>
          <a:ea typeface="+mn-ea"/>
          <a:cs typeface="+mn-cs"/>
        </a:defRPr>
      </a:lvl5pPr>
      <a:lvl6pPr marL="8099755" algn="l" defTabSz="3239902" rtl="0" eaLnBrk="1" latinLnBrk="0" hangingPunct="1">
        <a:defRPr sz="6378" kern="1200">
          <a:solidFill>
            <a:schemeClr val="tx1"/>
          </a:solidFill>
          <a:latin typeface="+mn-lt"/>
          <a:ea typeface="+mn-ea"/>
          <a:cs typeface="+mn-cs"/>
        </a:defRPr>
      </a:lvl6pPr>
      <a:lvl7pPr marL="9719706" algn="l" defTabSz="3239902" rtl="0" eaLnBrk="1" latinLnBrk="0" hangingPunct="1">
        <a:defRPr sz="6378" kern="1200">
          <a:solidFill>
            <a:schemeClr val="tx1"/>
          </a:solidFill>
          <a:latin typeface="+mn-lt"/>
          <a:ea typeface="+mn-ea"/>
          <a:cs typeface="+mn-cs"/>
        </a:defRPr>
      </a:lvl7pPr>
      <a:lvl8pPr marL="11339657" algn="l" defTabSz="3239902" rtl="0" eaLnBrk="1" latinLnBrk="0" hangingPunct="1">
        <a:defRPr sz="6378" kern="1200">
          <a:solidFill>
            <a:schemeClr val="tx1"/>
          </a:solidFill>
          <a:latin typeface="+mn-lt"/>
          <a:ea typeface="+mn-ea"/>
          <a:cs typeface="+mn-cs"/>
        </a:defRPr>
      </a:lvl8pPr>
      <a:lvl9pPr marL="12959608" algn="l" defTabSz="3239902" rtl="0" eaLnBrk="1" latinLnBrk="0" hangingPunct="1">
        <a:defRPr sz="637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Interfaz de usuario gráfica, Aplicación&#10;&#10;Descripción generada automáticamente">
            <a:extLst>
              <a:ext uri="{FF2B5EF4-FFF2-40B4-BE49-F238E27FC236}">
                <a16:creationId xmlns:a16="http://schemas.microsoft.com/office/drawing/2014/main" id="{824845D4-E73B-E9E3-851A-741D98A095C2}"/>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 y="0"/>
            <a:ext cx="32500295" cy="43200638"/>
          </a:xfrm>
          <a:prstGeom prst="rect">
            <a:avLst/>
          </a:prstGeom>
        </p:spPr>
      </p:pic>
      <p:sp>
        <p:nvSpPr>
          <p:cNvPr id="13" name="CuadroTexto 12">
            <a:extLst>
              <a:ext uri="{FF2B5EF4-FFF2-40B4-BE49-F238E27FC236}">
                <a16:creationId xmlns:a16="http://schemas.microsoft.com/office/drawing/2014/main" id="{97ACE3E8-7DF3-C09E-FB15-16DB7AE8150B}"/>
              </a:ext>
            </a:extLst>
          </p:cNvPr>
          <p:cNvSpPr txBox="1"/>
          <p:nvPr/>
        </p:nvSpPr>
        <p:spPr>
          <a:xfrm>
            <a:off x="11627644" y="13201616"/>
            <a:ext cx="9144000" cy="1938992"/>
          </a:xfrm>
          <a:prstGeom prst="rect">
            <a:avLst/>
          </a:prstGeom>
          <a:noFill/>
        </p:spPr>
        <p:txBody>
          <a:bodyPr wrap="square" rtlCol="0">
            <a:spAutoFit/>
          </a:bodyPr>
          <a:lstStyle/>
          <a:p>
            <a:pPr algn="ctr"/>
            <a:r>
              <a:rPr lang="es-CO" sz="6000" b="1" dirty="0">
                <a:solidFill>
                  <a:schemeClr val="bg1">
                    <a:lumMod val="75000"/>
                  </a:schemeClr>
                </a:solidFill>
              </a:rPr>
              <a:t>Espacio para fotografía</a:t>
            </a:r>
          </a:p>
          <a:p>
            <a:pPr algn="ctr"/>
            <a:r>
              <a:rPr lang="es-CO" sz="6000" b="1" dirty="0">
                <a:solidFill>
                  <a:schemeClr val="bg1">
                    <a:lumMod val="75000"/>
                  </a:schemeClr>
                </a:solidFill>
              </a:rPr>
              <a:t>Principal</a:t>
            </a:r>
          </a:p>
        </p:txBody>
      </p:sp>
      <p:sp>
        <p:nvSpPr>
          <p:cNvPr id="14" name="CuadroTexto 13">
            <a:extLst>
              <a:ext uri="{FF2B5EF4-FFF2-40B4-BE49-F238E27FC236}">
                <a16:creationId xmlns:a16="http://schemas.microsoft.com/office/drawing/2014/main" id="{81BD2775-71B4-DBDB-30D1-F11F04CC57DD}"/>
              </a:ext>
            </a:extLst>
          </p:cNvPr>
          <p:cNvSpPr txBox="1"/>
          <p:nvPr/>
        </p:nvSpPr>
        <p:spPr>
          <a:xfrm>
            <a:off x="10752438" y="20531940"/>
            <a:ext cx="10781206" cy="4708981"/>
          </a:xfrm>
          <a:prstGeom prst="rect">
            <a:avLst/>
          </a:prstGeom>
          <a:noFill/>
        </p:spPr>
        <p:txBody>
          <a:bodyPr wrap="square" rtlCol="0">
            <a:spAutoFit/>
          </a:bodyPr>
          <a:lstStyle/>
          <a:p>
            <a:pPr algn="ctr"/>
            <a:r>
              <a:rPr lang="es-MX" sz="6000" b="1" spc="-300" dirty="0">
                <a:latin typeface="Work Sans" pitchFamily="2" charset="0"/>
              </a:rPr>
              <a:t>Fortalecimiento de los procesos de organización documental en entidades territoriales y públicas de la provincia de Vélez</a:t>
            </a:r>
            <a:endParaRPr lang="es-CO" sz="6000" b="1" spc="-300" dirty="0">
              <a:latin typeface="Work Sans" pitchFamily="2" charset="0"/>
            </a:endParaRPr>
          </a:p>
        </p:txBody>
      </p:sp>
      <p:sp>
        <p:nvSpPr>
          <p:cNvPr id="15" name="CuadroTexto 14">
            <a:extLst>
              <a:ext uri="{FF2B5EF4-FFF2-40B4-BE49-F238E27FC236}">
                <a16:creationId xmlns:a16="http://schemas.microsoft.com/office/drawing/2014/main" id="{67E69899-C836-6278-701A-EB8BA2AA8E33}"/>
              </a:ext>
            </a:extLst>
          </p:cNvPr>
          <p:cNvSpPr txBox="1"/>
          <p:nvPr/>
        </p:nvSpPr>
        <p:spPr>
          <a:xfrm>
            <a:off x="10541793" y="26892768"/>
            <a:ext cx="10991850" cy="6555641"/>
          </a:xfrm>
          <a:prstGeom prst="rect">
            <a:avLst/>
          </a:prstGeom>
          <a:noFill/>
        </p:spPr>
        <p:txBody>
          <a:bodyPr wrap="square" rtlCol="0">
            <a:spAutoFit/>
          </a:bodyPr>
          <a:lstStyle/>
          <a:p>
            <a:pPr algn="ctr"/>
            <a:r>
              <a:rPr lang="es-MX" sz="6000" dirty="0"/>
              <a:t>Paige Yuliana Valencia</a:t>
            </a:r>
          </a:p>
          <a:p>
            <a:pPr algn="ctr"/>
            <a:endParaRPr lang="es-MX" sz="6000" dirty="0"/>
          </a:p>
          <a:p>
            <a:pPr algn="ctr"/>
            <a:r>
              <a:rPr lang="es-MX" sz="6000" dirty="0"/>
              <a:t>Néstor Andrés Ortiz</a:t>
            </a:r>
          </a:p>
          <a:p>
            <a:pPr algn="ctr"/>
            <a:endParaRPr lang="es-MX" sz="6000" dirty="0"/>
          </a:p>
          <a:p>
            <a:pPr algn="ctr"/>
            <a:r>
              <a:rPr lang="es-MX" sz="6000" dirty="0"/>
              <a:t>pyvalencia@sena.edu.co</a:t>
            </a:r>
          </a:p>
          <a:p>
            <a:pPr algn="ctr"/>
            <a:endParaRPr lang="es-MX" sz="6000" dirty="0"/>
          </a:p>
          <a:p>
            <a:pPr algn="ctr"/>
            <a:r>
              <a:rPr lang="es-MX" sz="6000" dirty="0"/>
              <a:t>naortizm@sena.edu.co</a:t>
            </a:r>
          </a:p>
        </p:txBody>
      </p:sp>
      <p:sp>
        <p:nvSpPr>
          <p:cNvPr id="16" name="CuadroTexto 15">
            <a:extLst>
              <a:ext uri="{FF2B5EF4-FFF2-40B4-BE49-F238E27FC236}">
                <a16:creationId xmlns:a16="http://schemas.microsoft.com/office/drawing/2014/main" id="{747DE4F4-A1A8-5F0B-ABC1-5D7AB44CCA6A}"/>
              </a:ext>
            </a:extLst>
          </p:cNvPr>
          <p:cNvSpPr txBox="1"/>
          <p:nvPr/>
        </p:nvSpPr>
        <p:spPr>
          <a:xfrm>
            <a:off x="1246557" y="2775303"/>
            <a:ext cx="9073100" cy="5016758"/>
          </a:xfrm>
          <a:prstGeom prst="rect">
            <a:avLst/>
          </a:prstGeom>
          <a:noFill/>
        </p:spPr>
        <p:txBody>
          <a:bodyPr wrap="square" rtlCol="0">
            <a:spAutoFit/>
          </a:bodyPr>
          <a:lstStyle/>
          <a:p>
            <a:pPr algn="just"/>
            <a:r>
              <a:rPr lang="es-MX" sz="4000" dirty="0"/>
              <a:t>El presente proyecto se orienta al fortalecimiento de la gestión documental en entidades públicas de la provincia de Vélez, abordando las debilidades existentes en procesos archivísticos fundamentales como la clasificación, ordenación, foliación, inventario y digitalización de documentos</a:t>
            </a:r>
            <a:endParaRPr lang="es-CO" sz="4000" dirty="0"/>
          </a:p>
        </p:txBody>
      </p:sp>
      <p:sp>
        <p:nvSpPr>
          <p:cNvPr id="17" name="CuadroTexto 16">
            <a:extLst>
              <a:ext uri="{FF2B5EF4-FFF2-40B4-BE49-F238E27FC236}">
                <a16:creationId xmlns:a16="http://schemas.microsoft.com/office/drawing/2014/main" id="{B37334B2-8571-B324-DB0E-253533141C97}"/>
              </a:ext>
            </a:extLst>
          </p:cNvPr>
          <p:cNvSpPr txBox="1"/>
          <p:nvPr/>
        </p:nvSpPr>
        <p:spPr>
          <a:xfrm>
            <a:off x="1066788" y="10610686"/>
            <a:ext cx="9475005" cy="5632311"/>
          </a:xfrm>
          <a:prstGeom prst="rect">
            <a:avLst/>
          </a:prstGeom>
          <a:noFill/>
        </p:spPr>
        <p:txBody>
          <a:bodyPr wrap="square" rtlCol="0">
            <a:spAutoFit/>
          </a:bodyPr>
          <a:lstStyle/>
          <a:p>
            <a:pPr algn="just"/>
            <a:r>
              <a:rPr lang="es-MX" sz="4000" dirty="0"/>
              <a:t>En las entidades públicas de la provincia de Vélez se evidencian deficiencias en la aplicación de procesos archivísticos esenciales, tales como clasificación documental, foliación, inventarios y digitalización, lo que afecta la organización de la información, la transparencia administrativa y el derecho de acceso a la información</a:t>
            </a:r>
            <a:endParaRPr lang="es-CO" sz="4000" dirty="0"/>
          </a:p>
        </p:txBody>
      </p:sp>
      <p:sp>
        <p:nvSpPr>
          <p:cNvPr id="18" name="CuadroTexto 17">
            <a:extLst>
              <a:ext uri="{FF2B5EF4-FFF2-40B4-BE49-F238E27FC236}">
                <a16:creationId xmlns:a16="http://schemas.microsoft.com/office/drawing/2014/main" id="{14AF6051-5E44-F0C0-E9A5-21094495CFC8}"/>
              </a:ext>
            </a:extLst>
          </p:cNvPr>
          <p:cNvSpPr txBox="1"/>
          <p:nvPr/>
        </p:nvSpPr>
        <p:spPr>
          <a:xfrm>
            <a:off x="957943" y="18297121"/>
            <a:ext cx="9144000" cy="3785652"/>
          </a:xfrm>
          <a:prstGeom prst="rect">
            <a:avLst/>
          </a:prstGeom>
          <a:noFill/>
        </p:spPr>
        <p:txBody>
          <a:bodyPr wrap="square" rtlCol="0">
            <a:spAutoFit/>
          </a:bodyPr>
          <a:lstStyle/>
          <a:p>
            <a:pPr algn="just"/>
            <a:r>
              <a:rPr lang="es-MX" sz="4000" dirty="0"/>
              <a:t>El proyecto es relevante porque mejora la gestión documental en entidades públicas; pertinente al responder a necesidades reales del territorio; e impacta al fortalecer la eficiencia administrativa, la formación de aprendices y el acceso a la información.</a:t>
            </a:r>
            <a:endParaRPr lang="es-CO" sz="4000" dirty="0"/>
          </a:p>
        </p:txBody>
      </p:sp>
      <p:sp>
        <p:nvSpPr>
          <p:cNvPr id="19" name="CuadroTexto 18">
            <a:extLst>
              <a:ext uri="{FF2B5EF4-FFF2-40B4-BE49-F238E27FC236}">
                <a16:creationId xmlns:a16="http://schemas.microsoft.com/office/drawing/2014/main" id="{3BC00F4B-D317-83BE-A859-55BC3399CC07}"/>
              </a:ext>
            </a:extLst>
          </p:cNvPr>
          <p:cNvSpPr txBox="1"/>
          <p:nvPr/>
        </p:nvSpPr>
        <p:spPr>
          <a:xfrm>
            <a:off x="1066789" y="26369933"/>
            <a:ext cx="9144000" cy="4401205"/>
          </a:xfrm>
          <a:prstGeom prst="rect">
            <a:avLst/>
          </a:prstGeom>
          <a:noFill/>
        </p:spPr>
        <p:txBody>
          <a:bodyPr wrap="square" rtlCol="0">
            <a:spAutoFit/>
          </a:bodyPr>
          <a:lstStyle/>
          <a:p>
            <a:pPr algn="just"/>
            <a:r>
              <a:rPr lang="es-MX" sz="4000" dirty="0"/>
              <a:t>Fortalecer la organización documental en entidades públicas mediante el diagnóstico de sus procesos, la aplicación de criterios archivísticos, la implementación de inventarios y digitalización, y la evaluación de su impacto en la eficiencia administrativa y el acceso a la información.</a:t>
            </a:r>
            <a:endParaRPr lang="es-CO" sz="4000" dirty="0"/>
          </a:p>
        </p:txBody>
      </p:sp>
      <p:sp>
        <p:nvSpPr>
          <p:cNvPr id="20" name="CuadroTexto 19">
            <a:extLst>
              <a:ext uri="{FF2B5EF4-FFF2-40B4-BE49-F238E27FC236}">
                <a16:creationId xmlns:a16="http://schemas.microsoft.com/office/drawing/2014/main" id="{A222966F-5480-46B2-CC5C-5386CD623A0F}"/>
              </a:ext>
            </a:extLst>
          </p:cNvPr>
          <p:cNvSpPr txBox="1"/>
          <p:nvPr/>
        </p:nvSpPr>
        <p:spPr>
          <a:xfrm>
            <a:off x="22407149" y="2919680"/>
            <a:ext cx="9073100" cy="5016758"/>
          </a:xfrm>
          <a:prstGeom prst="rect">
            <a:avLst/>
          </a:prstGeom>
          <a:noFill/>
        </p:spPr>
        <p:txBody>
          <a:bodyPr wrap="square" rtlCol="0">
            <a:spAutoFit/>
          </a:bodyPr>
          <a:lstStyle/>
          <a:p>
            <a:pPr algn="just"/>
            <a:r>
              <a:rPr lang="es-MX" sz="4000" dirty="0"/>
              <a:t>Investigación de enfoque cualitativo y tipo aplicado, con estudio de casos múltiples e investigación-acción. Se emplean técnicas como revisión documental, observación directa y entrevistas, desarrolladas en fases de diagnóstico, intervención y evaluación para fortalecer la gestión documental en entidades públicas</a:t>
            </a:r>
            <a:endParaRPr lang="es-CO" sz="4000" dirty="0"/>
          </a:p>
        </p:txBody>
      </p:sp>
      <p:sp>
        <p:nvSpPr>
          <p:cNvPr id="21" name="CuadroTexto 20">
            <a:extLst>
              <a:ext uri="{FF2B5EF4-FFF2-40B4-BE49-F238E27FC236}">
                <a16:creationId xmlns:a16="http://schemas.microsoft.com/office/drawing/2014/main" id="{E28882AB-3D15-4F2E-2D44-D66D98E1DD0A}"/>
              </a:ext>
            </a:extLst>
          </p:cNvPr>
          <p:cNvSpPr txBox="1"/>
          <p:nvPr/>
        </p:nvSpPr>
        <p:spPr>
          <a:xfrm>
            <a:off x="22407149" y="10801465"/>
            <a:ext cx="8450722" cy="1938992"/>
          </a:xfrm>
          <a:prstGeom prst="rect">
            <a:avLst/>
          </a:prstGeom>
          <a:noFill/>
        </p:spPr>
        <p:txBody>
          <a:bodyPr wrap="square" rtlCol="0">
            <a:spAutoFit/>
          </a:bodyPr>
          <a:lstStyle/>
          <a:p>
            <a:pPr algn="just"/>
            <a:r>
              <a:rPr lang="es-MX" sz="4000" dirty="0"/>
              <a:t>Presentación del tipo y diseño de investigación, Población-muestra y técnicas de recolección de datos.</a:t>
            </a:r>
            <a:endParaRPr lang="es-CO" sz="4000" dirty="0"/>
          </a:p>
        </p:txBody>
      </p:sp>
      <p:sp>
        <p:nvSpPr>
          <p:cNvPr id="22" name="CuadroTexto 21">
            <a:extLst>
              <a:ext uri="{FF2B5EF4-FFF2-40B4-BE49-F238E27FC236}">
                <a16:creationId xmlns:a16="http://schemas.microsoft.com/office/drawing/2014/main" id="{59DBD3A7-A582-0791-0F44-46B2362FC5F4}"/>
              </a:ext>
            </a:extLst>
          </p:cNvPr>
          <p:cNvSpPr txBox="1"/>
          <p:nvPr/>
        </p:nvSpPr>
        <p:spPr>
          <a:xfrm>
            <a:off x="22297347" y="18460783"/>
            <a:ext cx="8560524" cy="3170099"/>
          </a:xfrm>
          <a:prstGeom prst="rect">
            <a:avLst/>
          </a:prstGeom>
          <a:noFill/>
        </p:spPr>
        <p:txBody>
          <a:bodyPr wrap="square" rtlCol="0">
            <a:spAutoFit/>
          </a:bodyPr>
          <a:lstStyle/>
          <a:p>
            <a:pPr algn="just"/>
            <a:r>
              <a:rPr lang="es-MX" sz="4000" dirty="0"/>
              <a:t>Ley 594 de 2000; Ley 1712 de 2014; Acuerdo 001 de 2024 del Archivo General de la Nación; NTC 5985 (ICONTEC); Schellenberg (1956); Heredia Herrera (1991); Cruz Mundet (2011).</a:t>
            </a:r>
            <a:endParaRPr lang="es-CO" sz="4000" dirty="0"/>
          </a:p>
        </p:txBody>
      </p:sp>
      <p:sp>
        <p:nvSpPr>
          <p:cNvPr id="24" name="CuadroTexto 23">
            <a:extLst>
              <a:ext uri="{FF2B5EF4-FFF2-40B4-BE49-F238E27FC236}">
                <a16:creationId xmlns:a16="http://schemas.microsoft.com/office/drawing/2014/main" id="{4EDD5087-BA97-212F-F260-7215C25D9BF5}"/>
              </a:ext>
            </a:extLst>
          </p:cNvPr>
          <p:cNvSpPr txBox="1"/>
          <p:nvPr/>
        </p:nvSpPr>
        <p:spPr>
          <a:xfrm>
            <a:off x="22184139" y="26178339"/>
            <a:ext cx="8789555" cy="1938992"/>
          </a:xfrm>
          <a:prstGeom prst="rect">
            <a:avLst/>
          </a:prstGeom>
          <a:noFill/>
        </p:spPr>
        <p:txBody>
          <a:bodyPr wrap="square" rtlCol="0">
            <a:spAutoFit/>
          </a:bodyPr>
          <a:lstStyle/>
          <a:p>
            <a:r>
              <a:rPr lang="es-MX" sz="4000" dirty="0"/>
              <a:t>Se presentan referencias bibliográficas pertinentes y actualizadas relacionadas con la temática de investigación.</a:t>
            </a:r>
            <a:endParaRPr lang="es-CO" sz="4000" dirty="0"/>
          </a:p>
        </p:txBody>
      </p:sp>
      <p:pic>
        <p:nvPicPr>
          <p:cNvPr id="3" name="Imagen 2">
            <a:extLst>
              <a:ext uri="{FF2B5EF4-FFF2-40B4-BE49-F238E27FC236}">
                <a16:creationId xmlns:a16="http://schemas.microsoft.com/office/drawing/2014/main" id="{B7E18D3F-4E88-C647-A9EF-778F27FC0E86}"/>
              </a:ext>
            </a:extLst>
          </p:cNvPr>
          <p:cNvPicPr>
            <a:picLocks noChangeAspect="1"/>
          </p:cNvPicPr>
          <p:nvPr/>
        </p:nvPicPr>
        <p:blipFill>
          <a:blip r:embed="rId3"/>
          <a:srcRect l="18027" t="22936" r="52925" b="64605"/>
          <a:stretch>
            <a:fillRect/>
          </a:stretch>
        </p:blipFill>
        <p:spPr>
          <a:xfrm>
            <a:off x="21664029" y="33131279"/>
            <a:ext cx="10735259" cy="4165338"/>
          </a:xfrm>
          <a:prstGeom prst="rect">
            <a:avLst/>
          </a:prstGeom>
        </p:spPr>
      </p:pic>
      <p:sp>
        <p:nvSpPr>
          <p:cNvPr id="2" name="CuadroTexto 1">
            <a:extLst>
              <a:ext uri="{FF2B5EF4-FFF2-40B4-BE49-F238E27FC236}">
                <a16:creationId xmlns:a16="http://schemas.microsoft.com/office/drawing/2014/main" id="{DF929F9C-97A5-D6C9-E58C-258ADD6F8C24}"/>
              </a:ext>
            </a:extLst>
          </p:cNvPr>
          <p:cNvSpPr txBox="1"/>
          <p:nvPr/>
        </p:nvSpPr>
        <p:spPr>
          <a:xfrm>
            <a:off x="957943" y="34270531"/>
            <a:ext cx="9144000" cy="5016758"/>
          </a:xfrm>
          <a:prstGeom prst="rect">
            <a:avLst/>
          </a:prstGeom>
          <a:noFill/>
        </p:spPr>
        <p:txBody>
          <a:bodyPr wrap="square" rtlCol="0">
            <a:spAutoFit/>
          </a:bodyPr>
          <a:lstStyle/>
          <a:p>
            <a:pPr algn="just"/>
            <a:r>
              <a:rPr lang="es-MX" sz="4000" dirty="0"/>
              <a:t>El proyecto se fundamenta en la teoría archivística y en el marco normativo colombiano, especialmente la Ley 594 de 2000, la Ley 1712 de 2014 y la NTC 5985, que establecen principios como organización, autenticidad, integridad y acceso a la información en la gestión documental. .</a:t>
            </a:r>
            <a:endParaRPr lang="es-CO" sz="4000" dirty="0"/>
          </a:p>
        </p:txBody>
      </p:sp>
      <p:pic>
        <p:nvPicPr>
          <p:cNvPr id="4" name="Imagen 3">
            <a:extLst>
              <a:ext uri="{FF2B5EF4-FFF2-40B4-BE49-F238E27FC236}">
                <a16:creationId xmlns:a16="http://schemas.microsoft.com/office/drawing/2014/main" id="{6074437A-D46F-8B35-48B1-CFC362523436}"/>
              </a:ext>
            </a:extLst>
          </p:cNvPr>
          <p:cNvPicPr>
            <a:picLocks noChangeAspect="1"/>
          </p:cNvPicPr>
          <p:nvPr/>
        </p:nvPicPr>
        <p:blipFill>
          <a:blip r:embed="rId4"/>
          <a:stretch>
            <a:fillRect/>
          </a:stretch>
        </p:blipFill>
        <p:spPr>
          <a:xfrm>
            <a:off x="11059887" y="8947684"/>
            <a:ext cx="10128180" cy="11412774"/>
          </a:xfrm>
          <a:prstGeom prst="rect">
            <a:avLst/>
          </a:prstGeom>
        </p:spPr>
      </p:pic>
    </p:spTree>
    <p:extLst>
      <p:ext uri="{BB962C8B-B14F-4D97-AF65-F5344CB8AC3E}">
        <p14:creationId xmlns:p14="http://schemas.microsoft.com/office/powerpoint/2010/main" val="3937121813"/>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287</TotalTime>
  <Words>385</Words>
  <Application>Microsoft Office PowerPoint</Application>
  <PresentationFormat>Personalizado</PresentationFormat>
  <Paragraphs>19</Paragraphs>
  <Slides>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vt:i4>
      </vt:variant>
    </vt:vector>
  </HeadingPairs>
  <TitlesOfParts>
    <vt:vector size="6" baseType="lpstr">
      <vt:lpstr>Arial</vt:lpstr>
      <vt:lpstr>Calibri</vt:lpstr>
      <vt:lpstr>Calibri Light</vt:lpstr>
      <vt:lpstr>Work Sans</vt:lpstr>
      <vt:lpstr>Tema de Office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Javier Andres Barrera Toscano</dc:creator>
  <cp:lastModifiedBy>VALENCIA GONZALES PAIGE YULIANA</cp:lastModifiedBy>
  <cp:revision>9</cp:revision>
  <dcterms:created xsi:type="dcterms:W3CDTF">2022-08-08T18:44:33Z</dcterms:created>
  <dcterms:modified xsi:type="dcterms:W3CDTF">2026-04-14T14:46:31Z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SetDate">
    <vt:lpwstr>2023-03-16T15:41:07Z</vt:lpwstr>
  </property>
  <property fmtid="{D5CDD505-2E9C-101B-9397-08002B2CF9AE}" pid="4" name="MSIP_Label_1299739c-ad3d-4908-806e-4d91151a6e13_Method">
    <vt:lpwstr>Standard</vt:lpwstr>
  </property>
  <property fmtid="{D5CDD505-2E9C-101B-9397-08002B2CF9AE}" pid="5" name="MSIP_Label_1299739c-ad3d-4908-806e-4d91151a6e13_Name">
    <vt:lpwstr>All Employees (Unrestricted)</vt:lpwstr>
  </property>
  <property fmtid="{D5CDD505-2E9C-101B-9397-08002B2CF9AE}" pid="6" name="MSIP_Label_1299739c-ad3d-4908-806e-4d91151a6e13_SiteId">
    <vt:lpwstr>cbc2c381-2f2e-4d93-91d1-506c9316ace7</vt:lpwstr>
  </property>
  <property fmtid="{D5CDD505-2E9C-101B-9397-08002B2CF9AE}" pid="7" name="MSIP_Label_1299739c-ad3d-4908-806e-4d91151a6e13_ActionId">
    <vt:lpwstr>759d9252-193a-4f6c-8cbe-eb544e25d76e</vt:lpwstr>
  </property>
  <property fmtid="{D5CDD505-2E9C-101B-9397-08002B2CF9AE}" pid="8" name="MSIP_Label_1299739c-ad3d-4908-806e-4d91151a6e13_ContentBits">
    <vt:lpwstr>0</vt:lpwstr>
  </property>
</Properties>
</file>