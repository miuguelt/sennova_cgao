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9"/>
  </p:notesMasterIdLst>
  <p:handoutMasterIdLst>
    <p:handoutMasterId r:id="rId20"/>
  </p:handoutMasterIdLst>
  <p:sldIdLst>
    <p:sldId id="544" r:id="rId2"/>
    <p:sldId id="545" r:id="rId3"/>
    <p:sldId id="559" r:id="rId4"/>
    <p:sldId id="546" r:id="rId5"/>
    <p:sldId id="535" r:id="rId6"/>
    <p:sldId id="537" r:id="rId7"/>
    <p:sldId id="542" r:id="rId8"/>
    <p:sldId id="543" r:id="rId9"/>
    <p:sldId id="536" r:id="rId10"/>
    <p:sldId id="547" r:id="rId11"/>
    <p:sldId id="549" r:id="rId12"/>
    <p:sldId id="550" r:id="rId13"/>
    <p:sldId id="551" r:id="rId14"/>
    <p:sldId id="553" r:id="rId15"/>
    <p:sldId id="554" r:id="rId16"/>
    <p:sldId id="560" r:id="rId17"/>
    <p:sldId id="53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2387" userDrawn="1">
          <p15:clr>
            <a:srgbClr val="A4A3A4"/>
          </p15:clr>
        </p15:guide>
        <p15:guide id="6" orient="horz" pos="2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7242"/>
  </p:normalViewPr>
  <p:slideViewPr>
    <p:cSldViewPr snapToGrid="0">
      <p:cViewPr varScale="1">
        <p:scale>
          <a:sx n="96" d="100"/>
          <a:sy n="96" d="100"/>
        </p:scale>
        <p:origin x="624" y="72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2.svg"/><Relationship Id="rId16" Type="http://schemas.openxmlformats.org/officeDocument/2006/relationships/image" Target="../media/image36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2.svg"/><Relationship Id="rId16" Type="http://schemas.openxmlformats.org/officeDocument/2006/relationships/image" Target="../media/image36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72DC64-FF22-4E4C-A7B5-DCC022F9CC0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16C9C04-7150-494F-8949-D08F84F513B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3600" b="1" dirty="0"/>
            <a:t>13. Impacto del proyecto</a:t>
          </a:r>
          <a:endParaRPr lang="en-US" sz="3600" dirty="0"/>
        </a:p>
      </dgm:t>
    </dgm:pt>
    <dgm:pt modelId="{89CED281-5E60-4C3F-8253-75BD8C2344BA}" type="parTrans" cxnId="{40AD7B44-F5B2-4CDE-8C47-AC8695C022E0}">
      <dgm:prSet/>
      <dgm:spPr/>
      <dgm:t>
        <a:bodyPr/>
        <a:lstStyle/>
        <a:p>
          <a:endParaRPr lang="en-US"/>
        </a:p>
      </dgm:t>
    </dgm:pt>
    <dgm:pt modelId="{E629D5A0-02EB-4F45-9C8D-A2BE5FE8BF92}" type="sibTrans" cxnId="{40AD7B44-F5B2-4CDE-8C47-AC8695C022E0}">
      <dgm:prSet/>
      <dgm:spPr/>
      <dgm:t>
        <a:bodyPr/>
        <a:lstStyle/>
        <a:p>
          <a:endParaRPr lang="en-US"/>
        </a:p>
      </dgm:t>
    </dgm:pt>
    <dgm:pt modelId="{987D08CF-F5DA-4C8B-ADF8-AAE87FAC8EC9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/>
            <a:t>Impacto institucional</a:t>
          </a:r>
          <a:endParaRPr lang="en-US"/>
        </a:p>
      </dgm:t>
    </dgm:pt>
    <dgm:pt modelId="{905E0487-2919-4B2B-BA21-4C41D9C63C45}" type="parTrans" cxnId="{C9A3E305-2568-4875-95FD-9EAD5A26CC39}">
      <dgm:prSet/>
      <dgm:spPr/>
      <dgm:t>
        <a:bodyPr/>
        <a:lstStyle/>
        <a:p>
          <a:endParaRPr lang="en-US"/>
        </a:p>
      </dgm:t>
    </dgm:pt>
    <dgm:pt modelId="{16B3862B-205C-4089-A40F-37A172CCEB25}" type="sibTrans" cxnId="{C9A3E305-2568-4875-95FD-9EAD5A26CC39}">
      <dgm:prSet/>
      <dgm:spPr/>
      <dgm:t>
        <a:bodyPr/>
        <a:lstStyle/>
        <a:p>
          <a:endParaRPr lang="en-US"/>
        </a:p>
      </dgm:t>
    </dgm:pt>
    <dgm:pt modelId="{1E4ED37E-9C87-4829-91F9-B8E0C4E88D14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>
              <a:solidFill>
                <a:schemeClr val="bg2">
                  <a:lumMod val="10000"/>
                </a:schemeClr>
              </a:solidFill>
            </a:rPr>
            <a:t>Mejora en la organización del archivo.</a:t>
          </a:r>
          <a:endParaRPr lang="en-US" dirty="0">
            <a:solidFill>
              <a:schemeClr val="bg2">
                <a:lumMod val="10000"/>
              </a:schemeClr>
            </a:solidFill>
          </a:endParaRPr>
        </a:p>
      </dgm:t>
    </dgm:pt>
    <dgm:pt modelId="{8144A04C-1587-492F-9D0B-A662C5182BF4}" type="parTrans" cxnId="{184E205F-5884-4034-8367-ED5C5E1CAB11}">
      <dgm:prSet/>
      <dgm:spPr/>
      <dgm:t>
        <a:bodyPr/>
        <a:lstStyle/>
        <a:p>
          <a:endParaRPr lang="en-US"/>
        </a:p>
      </dgm:t>
    </dgm:pt>
    <dgm:pt modelId="{765DCDE7-39AE-4BE1-9A87-1C583CDF8823}" type="sibTrans" cxnId="{184E205F-5884-4034-8367-ED5C5E1CAB11}">
      <dgm:prSet/>
      <dgm:spPr/>
      <dgm:t>
        <a:bodyPr/>
        <a:lstStyle/>
        <a:p>
          <a:endParaRPr lang="en-US"/>
        </a:p>
      </dgm:t>
    </dgm:pt>
    <dgm:pt modelId="{5E2FA2F9-01BA-4B07-A079-EE291C74A89C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>
              <a:solidFill>
                <a:schemeClr val="bg2">
                  <a:lumMod val="10000"/>
                </a:schemeClr>
              </a:solidFill>
            </a:rPr>
            <a:t>Mayor control documental.</a:t>
          </a:r>
          <a:endParaRPr lang="en-US" dirty="0">
            <a:solidFill>
              <a:schemeClr val="bg2">
                <a:lumMod val="10000"/>
              </a:schemeClr>
            </a:solidFill>
          </a:endParaRPr>
        </a:p>
      </dgm:t>
    </dgm:pt>
    <dgm:pt modelId="{370B2B4E-245E-4BD5-AB89-8119D2DEAC87}" type="parTrans" cxnId="{EEF5310A-828C-46D7-8891-B2F55CA12E78}">
      <dgm:prSet/>
      <dgm:spPr/>
      <dgm:t>
        <a:bodyPr/>
        <a:lstStyle/>
        <a:p>
          <a:endParaRPr lang="en-US"/>
        </a:p>
      </dgm:t>
    </dgm:pt>
    <dgm:pt modelId="{984A3BD5-ADD9-4996-9CDF-BA4D7B14D003}" type="sibTrans" cxnId="{EEF5310A-828C-46D7-8891-B2F55CA12E78}">
      <dgm:prSet/>
      <dgm:spPr/>
      <dgm:t>
        <a:bodyPr/>
        <a:lstStyle/>
        <a:p>
          <a:endParaRPr lang="en-US"/>
        </a:p>
      </dgm:t>
    </dgm:pt>
    <dgm:pt modelId="{82B4C4B7-C7C3-498B-8FC1-F9801D63A31E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/>
            <a:t>Impacto formativo</a:t>
          </a:r>
          <a:endParaRPr lang="en-US"/>
        </a:p>
      </dgm:t>
    </dgm:pt>
    <dgm:pt modelId="{5E89DA01-C98B-4F49-86BF-CB54AD63ABE4}" type="parTrans" cxnId="{DA6F4FFA-E9F2-47AE-A89B-29FCF7715082}">
      <dgm:prSet/>
      <dgm:spPr/>
      <dgm:t>
        <a:bodyPr/>
        <a:lstStyle/>
        <a:p>
          <a:endParaRPr lang="en-US"/>
        </a:p>
      </dgm:t>
    </dgm:pt>
    <dgm:pt modelId="{0B1CB8DD-2DE3-4974-B5BE-13FBE23DF1ED}" type="sibTrans" cxnId="{DA6F4FFA-E9F2-47AE-A89B-29FCF7715082}">
      <dgm:prSet/>
      <dgm:spPr/>
      <dgm:t>
        <a:bodyPr/>
        <a:lstStyle/>
        <a:p>
          <a:endParaRPr lang="en-US"/>
        </a:p>
      </dgm:t>
    </dgm:pt>
    <dgm:pt modelId="{EA9B7AA2-8FFD-4723-8590-3AB90D1EC155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>
              <a:solidFill>
                <a:schemeClr val="bg2">
                  <a:lumMod val="10000"/>
                </a:schemeClr>
              </a:solidFill>
            </a:rPr>
            <a:t>Aprendizaje aplicado para los aprendices.</a:t>
          </a:r>
          <a:endParaRPr lang="en-US" dirty="0">
            <a:solidFill>
              <a:schemeClr val="bg2">
                <a:lumMod val="10000"/>
              </a:schemeClr>
            </a:solidFill>
          </a:endParaRPr>
        </a:p>
      </dgm:t>
    </dgm:pt>
    <dgm:pt modelId="{89221B3E-8464-4771-953C-4879B8A80D30}" type="parTrans" cxnId="{8010E62B-4048-4D55-BC15-45D6F04EECB4}">
      <dgm:prSet/>
      <dgm:spPr/>
      <dgm:t>
        <a:bodyPr/>
        <a:lstStyle/>
        <a:p>
          <a:endParaRPr lang="en-US"/>
        </a:p>
      </dgm:t>
    </dgm:pt>
    <dgm:pt modelId="{4D954030-B95C-44D9-808F-C86DB763B76F}" type="sibTrans" cxnId="{8010E62B-4048-4D55-BC15-45D6F04EECB4}">
      <dgm:prSet/>
      <dgm:spPr/>
      <dgm:t>
        <a:bodyPr/>
        <a:lstStyle/>
        <a:p>
          <a:endParaRPr lang="en-US"/>
        </a:p>
      </dgm:t>
    </dgm:pt>
    <dgm:pt modelId="{2673DEE4-E9AA-4B46-9EE1-B05571643541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/>
            <a:t>Impacto social</a:t>
          </a:r>
          <a:endParaRPr lang="en-US"/>
        </a:p>
      </dgm:t>
    </dgm:pt>
    <dgm:pt modelId="{8B4B2640-70F0-4C70-9E17-522370FA442E}" type="parTrans" cxnId="{6B7520EA-CFD2-42C7-93F9-99120E82908B}">
      <dgm:prSet/>
      <dgm:spPr/>
      <dgm:t>
        <a:bodyPr/>
        <a:lstStyle/>
        <a:p>
          <a:endParaRPr lang="en-US"/>
        </a:p>
      </dgm:t>
    </dgm:pt>
    <dgm:pt modelId="{F3427A43-CC22-4C7E-A85C-B2EE88301113}" type="sibTrans" cxnId="{6B7520EA-CFD2-42C7-93F9-99120E82908B}">
      <dgm:prSet/>
      <dgm:spPr/>
      <dgm:t>
        <a:bodyPr/>
        <a:lstStyle/>
        <a:p>
          <a:endParaRPr lang="en-US"/>
        </a:p>
      </dgm:t>
    </dgm:pt>
    <dgm:pt modelId="{EAA490EA-C6E0-4175-A243-B7995BC12E92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>
              <a:solidFill>
                <a:schemeClr val="bg2">
                  <a:lumMod val="10000"/>
                </a:schemeClr>
              </a:solidFill>
            </a:rPr>
            <a:t>Fortalecimiento de la </a:t>
          </a:r>
          <a:r>
            <a:rPr lang="es-MX" b="1" dirty="0">
              <a:solidFill>
                <a:schemeClr val="bg2">
                  <a:lumMod val="10000"/>
                </a:schemeClr>
              </a:solidFill>
            </a:rPr>
            <a:t>transparencia y acceso a la información pública</a:t>
          </a:r>
          <a:endParaRPr lang="en-US" dirty="0">
            <a:solidFill>
              <a:schemeClr val="bg2">
                <a:lumMod val="10000"/>
              </a:schemeClr>
            </a:solidFill>
          </a:endParaRPr>
        </a:p>
      </dgm:t>
    </dgm:pt>
    <dgm:pt modelId="{519586CC-2AAA-464F-BEB8-6611CC6466A4}" type="parTrans" cxnId="{2E9D3BCE-D7B3-4545-A499-5AD51F379A22}">
      <dgm:prSet/>
      <dgm:spPr/>
      <dgm:t>
        <a:bodyPr/>
        <a:lstStyle/>
        <a:p>
          <a:endParaRPr lang="en-US"/>
        </a:p>
      </dgm:t>
    </dgm:pt>
    <dgm:pt modelId="{03B9FB95-ACA6-4B37-A52B-D0FA5C95F53C}" type="sibTrans" cxnId="{2E9D3BCE-D7B3-4545-A499-5AD51F379A22}">
      <dgm:prSet/>
      <dgm:spPr/>
      <dgm:t>
        <a:bodyPr/>
        <a:lstStyle/>
        <a:p>
          <a:endParaRPr lang="en-US"/>
        </a:p>
      </dgm:t>
    </dgm:pt>
    <dgm:pt modelId="{1DB90F49-5015-43B9-AA79-42E42482B816}" type="pres">
      <dgm:prSet presAssocID="{6F72DC64-FF22-4E4C-A7B5-DCC022F9CC0E}" presName="root" presStyleCnt="0">
        <dgm:presLayoutVars>
          <dgm:dir/>
          <dgm:resizeHandles val="exact"/>
        </dgm:presLayoutVars>
      </dgm:prSet>
      <dgm:spPr/>
    </dgm:pt>
    <dgm:pt modelId="{FADA9363-9D73-4D13-B915-9BC2814BEC4A}" type="pres">
      <dgm:prSet presAssocID="{C16C9C04-7150-494F-8949-D08F84F513B8}" presName="compNode" presStyleCnt="0"/>
      <dgm:spPr/>
    </dgm:pt>
    <dgm:pt modelId="{4318EBD6-39A8-49BD-9C6F-EB8875F59F9D}" type="pres">
      <dgm:prSet presAssocID="{C16C9C04-7150-494F-8949-D08F84F513B8}" presName="bgRect" presStyleLbl="bgShp" presStyleIdx="0" presStyleCnt="8"/>
      <dgm:spPr/>
    </dgm:pt>
    <dgm:pt modelId="{F9793AAE-D7CA-41D3-923B-A1BEB032DAF3}" type="pres">
      <dgm:prSet presAssocID="{C16C9C04-7150-494F-8949-D08F84F513B8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63FB2B5-3563-4092-8C45-C8C1E86020BD}" type="pres">
      <dgm:prSet presAssocID="{C16C9C04-7150-494F-8949-D08F84F513B8}" presName="spaceRect" presStyleCnt="0"/>
      <dgm:spPr/>
    </dgm:pt>
    <dgm:pt modelId="{68294ECC-5A9E-4C81-95B4-9452AC33AF5F}" type="pres">
      <dgm:prSet presAssocID="{C16C9C04-7150-494F-8949-D08F84F513B8}" presName="parTx" presStyleLbl="revTx" presStyleIdx="0" presStyleCnt="8">
        <dgm:presLayoutVars>
          <dgm:chMax val="0"/>
          <dgm:chPref val="0"/>
        </dgm:presLayoutVars>
      </dgm:prSet>
      <dgm:spPr/>
    </dgm:pt>
    <dgm:pt modelId="{E2C71D63-973B-48A1-B410-D34F8BB5EF1F}" type="pres">
      <dgm:prSet presAssocID="{E629D5A0-02EB-4F45-9C8D-A2BE5FE8BF92}" presName="sibTrans" presStyleCnt="0"/>
      <dgm:spPr/>
    </dgm:pt>
    <dgm:pt modelId="{6AFE73DB-1623-4E48-8DC2-72B8A872D318}" type="pres">
      <dgm:prSet presAssocID="{987D08CF-F5DA-4C8B-ADF8-AAE87FAC8EC9}" presName="compNode" presStyleCnt="0"/>
      <dgm:spPr/>
    </dgm:pt>
    <dgm:pt modelId="{316501BD-9546-4B21-AF27-89C60D4D220A}" type="pres">
      <dgm:prSet presAssocID="{987D08CF-F5DA-4C8B-ADF8-AAE87FAC8EC9}" presName="bgRect" presStyleLbl="bgShp" presStyleIdx="1" presStyleCnt="8"/>
      <dgm:spPr/>
    </dgm:pt>
    <dgm:pt modelId="{DA03F3ED-CB60-41DF-9143-B31D03FB7C05}" type="pres">
      <dgm:prSet presAssocID="{987D08CF-F5DA-4C8B-ADF8-AAE87FAC8EC9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680C7696-B2A4-478B-B04C-E5B41B18668B}" type="pres">
      <dgm:prSet presAssocID="{987D08CF-F5DA-4C8B-ADF8-AAE87FAC8EC9}" presName="spaceRect" presStyleCnt="0"/>
      <dgm:spPr/>
    </dgm:pt>
    <dgm:pt modelId="{C4DF7F0A-A318-4C83-8517-1F076D7A32F9}" type="pres">
      <dgm:prSet presAssocID="{987D08CF-F5DA-4C8B-ADF8-AAE87FAC8EC9}" presName="parTx" presStyleLbl="revTx" presStyleIdx="1" presStyleCnt="8">
        <dgm:presLayoutVars>
          <dgm:chMax val="0"/>
          <dgm:chPref val="0"/>
        </dgm:presLayoutVars>
      </dgm:prSet>
      <dgm:spPr/>
    </dgm:pt>
    <dgm:pt modelId="{DA102FFF-67ED-48A8-BDA4-C9E9D71A4576}" type="pres">
      <dgm:prSet presAssocID="{16B3862B-205C-4089-A40F-37A172CCEB25}" presName="sibTrans" presStyleCnt="0"/>
      <dgm:spPr/>
    </dgm:pt>
    <dgm:pt modelId="{E7F194F5-6C5E-4E5E-A5F9-380D72D1F141}" type="pres">
      <dgm:prSet presAssocID="{1E4ED37E-9C87-4829-91F9-B8E0C4E88D14}" presName="compNode" presStyleCnt="0"/>
      <dgm:spPr/>
    </dgm:pt>
    <dgm:pt modelId="{966C3374-EE1A-4A97-854C-6CE3E98BE5A7}" type="pres">
      <dgm:prSet presAssocID="{1E4ED37E-9C87-4829-91F9-B8E0C4E88D14}" presName="bgRect" presStyleLbl="bgShp" presStyleIdx="2" presStyleCnt="8"/>
      <dgm:spPr/>
    </dgm:pt>
    <dgm:pt modelId="{4BC40510-9A25-4052-9AB9-144B48919BC1}" type="pres">
      <dgm:prSet presAssocID="{1E4ED37E-9C87-4829-91F9-B8E0C4E88D14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B47DD05-90E3-4978-87BB-AF6272F1D851}" type="pres">
      <dgm:prSet presAssocID="{1E4ED37E-9C87-4829-91F9-B8E0C4E88D14}" presName="spaceRect" presStyleCnt="0"/>
      <dgm:spPr/>
    </dgm:pt>
    <dgm:pt modelId="{EF5F4E11-E07E-41D3-8217-D3A93B299DC4}" type="pres">
      <dgm:prSet presAssocID="{1E4ED37E-9C87-4829-91F9-B8E0C4E88D14}" presName="parTx" presStyleLbl="revTx" presStyleIdx="2" presStyleCnt="8">
        <dgm:presLayoutVars>
          <dgm:chMax val="0"/>
          <dgm:chPref val="0"/>
        </dgm:presLayoutVars>
      </dgm:prSet>
      <dgm:spPr/>
    </dgm:pt>
    <dgm:pt modelId="{D89E44E2-2FF0-4D63-945B-706899C3DBAF}" type="pres">
      <dgm:prSet presAssocID="{765DCDE7-39AE-4BE1-9A87-1C583CDF8823}" presName="sibTrans" presStyleCnt="0"/>
      <dgm:spPr/>
    </dgm:pt>
    <dgm:pt modelId="{86198FEA-1700-43DB-B376-636C549E1144}" type="pres">
      <dgm:prSet presAssocID="{5E2FA2F9-01BA-4B07-A079-EE291C74A89C}" presName="compNode" presStyleCnt="0"/>
      <dgm:spPr/>
    </dgm:pt>
    <dgm:pt modelId="{A8020E08-FDD2-4A89-A901-B0CA0E9E28E6}" type="pres">
      <dgm:prSet presAssocID="{5E2FA2F9-01BA-4B07-A079-EE291C74A89C}" presName="bgRect" presStyleLbl="bgShp" presStyleIdx="3" presStyleCnt="8"/>
      <dgm:spPr/>
    </dgm:pt>
    <dgm:pt modelId="{9548A050-C2DE-4F2F-8D12-FDB6BDAAEB33}" type="pres">
      <dgm:prSet presAssocID="{5E2FA2F9-01BA-4B07-A079-EE291C74A89C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B2796591-B449-4A03-9B41-5FE36EF9A1CA}" type="pres">
      <dgm:prSet presAssocID="{5E2FA2F9-01BA-4B07-A079-EE291C74A89C}" presName="spaceRect" presStyleCnt="0"/>
      <dgm:spPr/>
    </dgm:pt>
    <dgm:pt modelId="{7F39764B-1050-46D4-BBDF-E2584A12784A}" type="pres">
      <dgm:prSet presAssocID="{5E2FA2F9-01BA-4B07-A079-EE291C74A89C}" presName="parTx" presStyleLbl="revTx" presStyleIdx="3" presStyleCnt="8">
        <dgm:presLayoutVars>
          <dgm:chMax val="0"/>
          <dgm:chPref val="0"/>
        </dgm:presLayoutVars>
      </dgm:prSet>
      <dgm:spPr/>
    </dgm:pt>
    <dgm:pt modelId="{122B103A-1823-456F-8BA6-95BB59E00E1A}" type="pres">
      <dgm:prSet presAssocID="{984A3BD5-ADD9-4996-9CDF-BA4D7B14D003}" presName="sibTrans" presStyleCnt="0"/>
      <dgm:spPr/>
    </dgm:pt>
    <dgm:pt modelId="{1892950F-FF6D-4B88-9A5C-9777882865D1}" type="pres">
      <dgm:prSet presAssocID="{82B4C4B7-C7C3-498B-8FC1-F9801D63A31E}" presName="compNode" presStyleCnt="0"/>
      <dgm:spPr/>
    </dgm:pt>
    <dgm:pt modelId="{A14E9F47-408D-4F99-B688-17B759FCF0C5}" type="pres">
      <dgm:prSet presAssocID="{82B4C4B7-C7C3-498B-8FC1-F9801D63A31E}" presName="bgRect" presStyleLbl="bgShp" presStyleIdx="4" presStyleCnt="8"/>
      <dgm:spPr/>
    </dgm:pt>
    <dgm:pt modelId="{AA554671-3E47-4AB2-9FF1-52410CD19733}" type="pres">
      <dgm:prSet presAssocID="{82B4C4B7-C7C3-498B-8FC1-F9801D63A31E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piración"/>
        </a:ext>
      </dgm:extLst>
    </dgm:pt>
    <dgm:pt modelId="{1A021494-C44F-45F2-9A35-79B3442126E5}" type="pres">
      <dgm:prSet presAssocID="{82B4C4B7-C7C3-498B-8FC1-F9801D63A31E}" presName="spaceRect" presStyleCnt="0"/>
      <dgm:spPr/>
    </dgm:pt>
    <dgm:pt modelId="{ACE01960-7355-4139-8FDC-95712D07407C}" type="pres">
      <dgm:prSet presAssocID="{82B4C4B7-C7C3-498B-8FC1-F9801D63A31E}" presName="parTx" presStyleLbl="revTx" presStyleIdx="4" presStyleCnt="8">
        <dgm:presLayoutVars>
          <dgm:chMax val="0"/>
          <dgm:chPref val="0"/>
        </dgm:presLayoutVars>
      </dgm:prSet>
      <dgm:spPr/>
    </dgm:pt>
    <dgm:pt modelId="{E5B62740-6E8A-45DA-8068-82452307E3AA}" type="pres">
      <dgm:prSet presAssocID="{0B1CB8DD-2DE3-4974-B5BE-13FBE23DF1ED}" presName="sibTrans" presStyleCnt="0"/>
      <dgm:spPr/>
    </dgm:pt>
    <dgm:pt modelId="{B89148AF-C6BB-4914-86FA-7ADB22B9CC3E}" type="pres">
      <dgm:prSet presAssocID="{EA9B7AA2-8FFD-4723-8590-3AB90D1EC155}" presName="compNode" presStyleCnt="0"/>
      <dgm:spPr/>
    </dgm:pt>
    <dgm:pt modelId="{6FFB8575-9936-4BF7-8B2C-4EB6A4428A5C}" type="pres">
      <dgm:prSet presAssocID="{EA9B7AA2-8FFD-4723-8590-3AB90D1EC155}" presName="bgRect" presStyleLbl="bgShp" presStyleIdx="5" presStyleCnt="8"/>
      <dgm:spPr/>
    </dgm:pt>
    <dgm:pt modelId="{22D54BE2-13BD-4AF1-A178-EBB2F9263362}" type="pres">
      <dgm:prSet presAssocID="{EA9B7AA2-8FFD-4723-8590-3AB90D1EC155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5394B7B4-8669-4D48-A290-8224A6A7C1DB}" type="pres">
      <dgm:prSet presAssocID="{EA9B7AA2-8FFD-4723-8590-3AB90D1EC155}" presName="spaceRect" presStyleCnt="0"/>
      <dgm:spPr/>
    </dgm:pt>
    <dgm:pt modelId="{3E24EACA-CB7A-46A5-957D-497ED9961459}" type="pres">
      <dgm:prSet presAssocID="{EA9B7AA2-8FFD-4723-8590-3AB90D1EC155}" presName="parTx" presStyleLbl="revTx" presStyleIdx="5" presStyleCnt="8">
        <dgm:presLayoutVars>
          <dgm:chMax val="0"/>
          <dgm:chPref val="0"/>
        </dgm:presLayoutVars>
      </dgm:prSet>
      <dgm:spPr/>
    </dgm:pt>
    <dgm:pt modelId="{C6CB3B93-A6D8-4945-B97F-2414CE8CB7A1}" type="pres">
      <dgm:prSet presAssocID="{4D954030-B95C-44D9-808F-C86DB763B76F}" presName="sibTrans" presStyleCnt="0"/>
      <dgm:spPr/>
    </dgm:pt>
    <dgm:pt modelId="{21CE5388-F5D3-4910-9C47-2D542647AE38}" type="pres">
      <dgm:prSet presAssocID="{2673DEE4-E9AA-4B46-9EE1-B05571643541}" presName="compNode" presStyleCnt="0"/>
      <dgm:spPr/>
    </dgm:pt>
    <dgm:pt modelId="{BF89838A-A0C5-48A3-A8A0-8200D02032CF}" type="pres">
      <dgm:prSet presAssocID="{2673DEE4-E9AA-4B46-9EE1-B05571643541}" presName="bgRect" presStyleLbl="bgShp" presStyleIdx="6" presStyleCnt="8"/>
      <dgm:spPr/>
    </dgm:pt>
    <dgm:pt modelId="{3BE14975-7661-43D1-A59F-13F18C6020C4}" type="pres">
      <dgm:prSet presAssocID="{2673DEE4-E9AA-4B46-9EE1-B05571643541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0798DA28-71A5-4EB4-AEBF-A170603524EE}" type="pres">
      <dgm:prSet presAssocID="{2673DEE4-E9AA-4B46-9EE1-B05571643541}" presName="spaceRect" presStyleCnt="0"/>
      <dgm:spPr/>
    </dgm:pt>
    <dgm:pt modelId="{DF77EB46-CCF8-4389-B45A-25E72CE815F0}" type="pres">
      <dgm:prSet presAssocID="{2673DEE4-E9AA-4B46-9EE1-B05571643541}" presName="parTx" presStyleLbl="revTx" presStyleIdx="6" presStyleCnt="8">
        <dgm:presLayoutVars>
          <dgm:chMax val="0"/>
          <dgm:chPref val="0"/>
        </dgm:presLayoutVars>
      </dgm:prSet>
      <dgm:spPr/>
    </dgm:pt>
    <dgm:pt modelId="{5EF01C77-405A-4F59-830F-5AA1C04E5D3C}" type="pres">
      <dgm:prSet presAssocID="{F3427A43-CC22-4C7E-A85C-B2EE88301113}" presName="sibTrans" presStyleCnt="0"/>
      <dgm:spPr/>
    </dgm:pt>
    <dgm:pt modelId="{898F2862-F1BF-4726-86BF-FFA5778598BD}" type="pres">
      <dgm:prSet presAssocID="{EAA490EA-C6E0-4175-A243-B7995BC12E92}" presName="compNode" presStyleCnt="0"/>
      <dgm:spPr/>
    </dgm:pt>
    <dgm:pt modelId="{668E8A4F-1B44-4A5A-923C-AAFBD4C47278}" type="pres">
      <dgm:prSet presAssocID="{EAA490EA-C6E0-4175-A243-B7995BC12E92}" presName="bgRect" presStyleLbl="bgShp" presStyleIdx="7" presStyleCnt="8"/>
      <dgm:spPr/>
    </dgm:pt>
    <dgm:pt modelId="{C9A30EDF-F85F-43E1-AD0F-2405CE5C573B}" type="pres">
      <dgm:prSet presAssocID="{EAA490EA-C6E0-4175-A243-B7995BC12E92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027D4DEB-7A7A-4B00-885E-8F14C88C6F8E}" type="pres">
      <dgm:prSet presAssocID="{EAA490EA-C6E0-4175-A243-B7995BC12E92}" presName="spaceRect" presStyleCnt="0"/>
      <dgm:spPr/>
    </dgm:pt>
    <dgm:pt modelId="{CE7B6D38-610A-41D6-901B-5CE45393D2C4}" type="pres">
      <dgm:prSet presAssocID="{EAA490EA-C6E0-4175-A243-B7995BC12E92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C9A3E305-2568-4875-95FD-9EAD5A26CC39}" srcId="{6F72DC64-FF22-4E4C-A7B5-DCC022F9CC0E}" destId="{987D08CF-F5DA-4C8B-ADF8-AAE87FAC8EC9}" srcOrd="1" destOrd="0" parTransId="{905E0487-2919-4B2B-BA21-4C41D9C63C45}" sibTransId="{16B3862B-205C-4089-A40F-37A172CCEB25}"/>
    <dgm:cxn modelId="{EEF5310A-828C-46D7-8891-B2F55CA12E78}" srcId="{6F72DC64-FF22-4E4C-A7B5-DCC022F9CC0E}" destId="{5E2FA2F9-01BA-4B07-A079-EE291C74A89C}" srcOrd="3" destOrd="0" parTransId="{370B2B4E-245E-4BD5-AB89-8119D2DEAC87}" sibTransId="{984A3BD5-ADD9-4996-9CDF-BA4D7B14D003}"/>
    <dgm:cxn modelId="{245A3323-79BA-4067-95F1-E9C22135AF5E}" type="presOf" srcId="{6F72DC64-FF22-4E4C-A7B5-DCC022F9CC0E}" destId="{1DB90F49-5015-43B9-AA79-42E42482B816}" srcOrd="0" destOrd="0" presId="urn:microsoft.com/office/officeart/2018/2/layout/IconVerticalSolidList"/>
    <dgm:cxn modelId="{8010E62B-4048-4D55-BC15-45D6F04EECB4}" srcId="{6F72DC64-FF22-4E4C-A7B5-DCC022F9CC0E}" destId="{EA9B7AA2-8FFD-4723-8590-3AB90D1EC155}" srcOrd="5" destOrd="0" parTransId="{89221B3E-8464-4771-953C-4879B8A80D30}" sibTransId="{4D954030-B95C-44D9-808F-C86DB763B76F}"/>
    <dgm:cxn modelId="{5E859F3D-99D8-4B05-BC13-FE0D4EEEA4BD}" type="presOf" srcId="{5E2FA2F9-01BA-4B07-A079-EE291C74A89C}" destId="{7F39764B-1050-46D4-BBDF-E2584A12784A}" srcOrd="0" destOrd="0" presId="urn:microsoft.com/office/officeart/2018/2/layout/IconVerticalSolidList"/>
    <dgm:cxn modelId="{184E205F-5884-4034-8367-ED5C5E1CAB11}" srcId="{6F72DC64-FF22-4E4C-A7B5-DCC022F9CC0E}" destId="{1E4ED37E-9C87-4829-91F9-B8E0C4E88D14}" srcOrd="2" destOrd="0" parTransId="{8144A04C-1587-492F-9D0B-A662C5182BF4}" sibTransId="{765DCDE7-39AE-4BE1-9A87-1C583CDF8823}"/>
    <dgm:cxn modelId="{40AD7B44-F5B2-4CDE-8C47-AC8695C022E0}" srcId="{6F72DC64-FF22-4E4C-A7B5-DCC022F9CC0E}" destId="{C16C9C04-7150-494F-8949-D08F84F513B8}" srcOrd="0" destOrd="0" parTransId="{89CED281-5E60-4C3F-8253-75BD8C2344BA}" sibTransId="{E629D5A0-02EB-4F45-9C8D-A2BE5FE8BF92}"/>
    <dgm:cxn modelId="{F251EB71-0E32-4696-8605-F82789B09E9D}" type="presOf" srcId="{2673DEE4-E9AA-4B46-9EE1-B05571643541}" destId="{DF77EB46-CCF8-4389-B45A-25E72CE815F0}" srcOrd="0" destOrd="0" presId="urn:microsoft.com/office/officeart/2018/2/layout/IconVerticalSolidList"/>
    <dgm:cxn modelId="{9B058253-8A76-4B97-9092-3FD88BF7E5DA}" type="presOf" srcId="{987D08CF-F5DA-4C8B-ADF8-AAE87FAC8EC9}" destId="{C4DF7F0A-A318-4C83-8517-1F076D7A32F9}" srcOrd="0" destOrd="0" presId="urn:microsoft.com/office/officeart/2018/2/layout/IconVerticalSolidList"/>
    <dgm:cxn modelId="{CCCEE186-C763-4236-8D93-124910DA7F63}" type="presOf" srcId="{EAA490EA-C6E0-4175-A243-B7995BC12E92}" destId="{CE7B6D38-610A-41D6-901B-5CE45393D2C4}" srcOrd="0" destOrd="0" presId="urn:microsoft.com/office/officeart/2018/2/layout/IconVerticalSolidList"/>
    <dgm:cxn modelId="{2E9D3BCE-D7B3-4545-A499-5AD51F379A22}" srcId="{6F72DC64-FF22-4E4C-A7B5-DCC022F9CC0E}" destId="{EAA490EA-C6E0-4175-A243-B7995BC12E92}" srcOrd="7" destOrd="0" parTransId="{519586CC-2AAA-464F-BEB8-6611CC6466A4}" sibTransId="{03B9FB95-ACA6-4B37-A52B-D0FA5C95F53C}"/>
    <dgm:cxn modelId="{7C0903CF-1550-4E3A-A6F8-EB79BE0106ED}" type="presOf" srcId="{EA9B7AA2-8FFD-4723-8590-3AB90D1EC155}" destId="{3E24EACA-CB7A-46A5-957D-497ED9961459}" srcOrd="0" destOrd="0" presId="urn:microsoft.com/office/officeart/2018/2/layout/IconVerticalSolidList"/>
    <dgm:cxn modelId="{93B3ECD4-46DE-4A5E-A8AA-0A73A4CBAA37}" type="presOf" srcId="{1E4ED37E-9C87-4829-91F9-B8E0C4E88D14}" destId="{EF5F4E11-E07E-41D3-8217-D3A93B299DC4}" srcOrd="0" destOrd="0" presId="urn:microsoft.com/office/officeart/2018/2/layout/IconVerticalSolidList"/>
    <dgm:cxn modelId="{6B7520EA-CFD2-42C7-93F9-99120E82908B}" srcId="{6F72DC64-FF22-4E4C-A7B5-DCC022F9CC0E}" destId="{2673DEE4-E9AA-4B46-9EE1-B05571643541}" srcOrd="6" destOrd="0" parTransId="{8B4B2640-70F0-4C70-9E17-522370FA442E}" sibTransId="{F3427A43-CC22-4C7E-A85C-B2EE88301113}"/>
    <dgm:cxn modelId="{86B6F9EB-59BC-4D7A-BE6D-7551B9647BF5}" type="presOf" srcId="{C16C9C04-7150-494F-8949-D08F84F513B8}" destId="{68294ECC-5A9E-4C81-95B4-9452AC33AF5F}" srcOrd="0" destOrd="0" presId="urn:microsoft.com/office/officeart/2018/2/layout/IconVerticalSolidList"/>
    <dgm:cxn modelId="{B066F0F7-521E-4EC3-B984-44714F44B33D}" type="presOf" srcId="{82B4C4B7-C7C3-498B-8FC1-F9801D63A31E}" destId="{ACE01960-7355-4139-8FDC-95712D07407C}" srcOrd="0" destOrd="0" presId="urn:microsoft.com/office/officeart/2018/2/layout/IconVerticalSolidList"/>
    <dgm:cxn modelId="{DA6F4FFA-E9F2-47AE-A89B-29FCF7715082}" srcId="{6F72DC64-FF22-4E4C-A7B5-DCC022F9CC0E}" destId="{82B4C4B7-C7C3-498B-8FC1-F9801D63A31E}" srcOrd="4" destOrd="0" parTransId="{5E89DA01-C98B-4F49-86BF-CB54AD63ABE4}" sibTransId="{0B1CB8DD-2DE3-4974-B5BE-13FBE23DF1ED}"/>
    <dgm:cxn modelId="{FF885A7D-4421-4C05-B21E-AAF15EFBD6AA}" type="presParOf" srcId="{1DB90F49-5015-43B9-AA79-42E42482B816}" destId="{FADA9363-9D73-4D13-B915-9BC2814BEC4A}" srcOrd="0" destOrd="0" presId="urn:microsoft.com/office/officeart/2018/2/layout/IconVerticalSolidList"/>
    <dgm:cxn modelId="{D9A31782-97DE-42D1-81D8-1D8E5A48AA7A}" type="presParOf" srcId="{FADA9363-9D73-4D13-B915-9BC2814BEC4A}" destId="{4318EBD6-39A8-49BD-9C6F-EB8875F59F9D}" srcOrd="0" destOrd="0" presId="urn:microsoft.com/office/officeart/2018/2/layout/IconVerticalSolidList"/>
    <dgm:cxn modelId="{F59C8A6E-2D7C-4945-B76A-3AB68D7EB419}" type="presParOf" srcId="{FADA9363-9D73-4D13-B915-9BC2814BEC4A}" destId="{F9793AAE-D7CA-41D3-923B-A1BEB032DAF3}" srcOrd="1" destOrd="0" presId="urn:microsoft.com/office/officeart/2018/2/layout/IconVerticalSolidList"/>
    <dgm:cxn modelId="{EEDFB050-27DE-4A8E-ADA9-E6EEE266245F}" type="presParOf" srcId="{FADA9363-9D73-4D13-B915-9BC2814BEC4A}" destId="{963FB2B5-3563-4092-8C45-C8C1E86020BD}" srcOrd="2" destOrd="0" presId="urn:microsoft.com/office/officeart/2018/2/layout/IconVerticalSolidList"/>
    <dgm:cxn modelId="{CB29D7E2-7269-4874-A061-AD4E79CDC544}" type="presParOf" srcId="{FADA9363-9D73-4D13-B915-9BC2814BEC4A}" destId="{68294ECC-5A9E-4C81-95B4-9452AC33AF5F}" srcOrd="3" destOrd="0" presId="urn:microsoft.com/office/officeart/2018/2/layout/IconVerticalSolidList"/>
    <dgm:cxn modelId="{4952FDF8-2B89-4BE8-80B8-EEED3FA37E0C}" type="presParOf" srcId="{1DB90F49-5015-43B9-AA79-42E42482B816}" destId="{E2C71D63-973B-48A1-B410-D34F8BB5EF1F}" srcOrd="1" destOrd="0" presId="urn:microsoft.com/office/officeart/2018/2/layout/IconVerticalSolidList"/>
    <dgm:cxn modelId="{655E412D-F750-4DC4-B9D2-AB5AA6AE78C8}" type="presParOf" srcId="{1DB90F49-5015-43B9-AA79-42E42482B816}" destId="{6AFE73DB-1623-4E48-8DC2-72B8A872D318}" srcOrd="2" destOrd="0" presId="urn:microsoft.com/office/officeart/2018/2/layout/IconVerticalSolidList"/>
    <dgm:cxn modelId="{8205EE5C-95A5-41DF-A290-C8DDFE4559E2}" type="presParOf" srcId="{6AFE73DB-1623-4E48-8DC2-72B8A872D318}" destId="{316501BD-9546-4B21-AF27-89C60D4D220A}" srcOrd="0" destOrd="0" presId="urn:microsoft.com/office/officeart/2018/2/layout/IconVerticalSolidList"/>
    <dgm:cxn modelId="{AD9BEEF7-54BA-4D6A-A371-956A163B3050}" type="presParOf" srcId="{6AFE73DB-1623-4E48-8DC2-72B8A872D318}" destId="{DA03F3ED-CB60-41DF-9143-B31D03FB7C05}" srcOrd="1" destOrd="0" presId="urn:microsoft.com/office/officeart/2018/2/layout/IconVerticalSolidList"/>
    <dgm:cxn modelId="{64943140-EB56-462C-A04E-BE4F8E829DF5}" type="presParOf" srcId="{6AFE73DB-1623-4E48-8DC2-72B8A872D318}" destId="{680C7696-B2A4-478B-B04C-E5B41B18668B}" srcOrd="2" destOrd="0" presId="urn:microsoft.com/office/officeart/2018/2/layout/IconVerticalSolidList"/>
    <dgm:cxn modelId="{06959783-D872-417E-8CDE-18125A735B11}" type="presParOf" srcId="{6AFE73DB-1623-4E48-8DC2-72B8A872D318}" destId="{C4DF7F0A-A318-4C83-8517-1F076D7A32F9}" srcOrd="3" destOrd="0" presId="urn:microsoft.com/office/officeart/2018/2/layout/IconVerticalSolidList"/>
    <dgm:cxn modelId="{401E7DC4-51D6-4A83-8D21-CBEB3194CE3F}" type="presParOf" srcId="{1DB90F49-5015-43B9-AA79-42E42482B816}" destId="{DA102FFF-67ED-48A8-BDA4-C9E9D71A4576}" srcOrd="3" destOrd="0" presId="urn:microsoft.com/office/officeart/2018/2/layout/IconVerticalSolidList"/>
    <dgm:cxn modelId="{7B5D4672-641B-4C9F-9F76-452DA0025287}" type="presParOf" srcId="{1DB90F49-5015-43B9-AA79-42E42482B816}" destId="{E7F194F5-6C5E-4E5E-A5F9-380D72D1F141}" srcOrd="4" destOrd="0" presId="urn:microsoft.com/office/officeart/2018/2/layout/IconVerticalSolidList"/>
    <dgm:cxn modelId="{A8937D99-92EA-4B4E-98AF-30BD9CDD40DB}" type="presParOf" srcId="{E7F194F5-6C5E-4E5E-A5F9-380D72D1F141}" destId="{966C3374-EE1A-4A97-854C-6CE3E98BE5A7}" srcOrd="0" destOrd="0" presId="urn:microsoft.com/office/officeart/2018/2/layout/IconVerticalSolidList"/>
    <dgm:cxn modelId="{5B489059-1E8C-4046-9334-11C20FE41837}" type="presParOf" srcId="{E7F194F5-6C5E-4E5E-A5F9-380D72D1F141}" destId="{4BC40510-9A25-4052-9AB9-144B48919BC1}" srcOrd="1" destOrd="0" presId="urn:microsoft.com/office/officeart/2018/2/layout/IconVerticalSolidList"/>
    <dgm:cxn modelId="{964E85A8-8A7F-4AD9-BD10-A7AE4747EF83}" type="presParOf" srcId="{E7F194F5-6C5E-4E5E-A5F9-380D72D1F141}" destId="{3B47DD05-90E3-4978-87BB-AF6272F1D851}" srcOrd="2" destOrd="0" presId="urn:microsoft.com/office/officeart/2018/2/layout/IconVerticalSolidList"/>
    <dgm:cxn modelId="{C1F24783-ED0A-4B57-87AA-4EB0C7F372E2}" type="presParOf" srcId="{E7F194F5-6C5E-4E5E-A5F9-380D72D1F141}" destId="{EF5F4E11-E07E-41D3-8217-D3A93B299DC4}" srcOrd="3" destOrd="0" presId="urn:microsoft.com/office/officeart/2018/2/layout/IconVerticalSolidList"/>
    <dgm:cxn modelId="{16422FFF-3FB9-496A-A5AB-5E615C147D84}" type="presParOf" srcId="{1DB90F49-5015-43B9-AA79-42E42482B816}" destId="{D89E44E2-2FF0-4D63-945B-706899C3DBAF}" srcOrd="5" destOrd="0" presId="urn:microsoft.com/office/officeart/2018/2/layout/IconVerticalSolidList"/>
    <dgm:cxn modelId="{65FE947A-0E61-4F8E-B4EA-EF2612E61F06}" type="presParOf" srcId="{1DB90F49-5015-43B9-AA79-42E42482B816}" destId="{86198FEA-1700-43DB-B376-636C549E1144}" srcOrd="6" destOrd="0" presId="urn:microsoft.com/office/officeart/2018/2/layout/IconVerticalSolidList"/>
    <dgm:cxn modelId="{03A85336-13BC-4055-B737-8C81019A9439}" type="presParOf" srcId="{86198FEA-1700-43DB-B376-636C549E1144}" destId="{A8020E08-FDD2-4A89-A901-B0CA0E9E28E6}" srcOrd="0" destOrd="0" presId="urn:microsoft.com/office/officeart/2018/2/layout/IconVerticalSolidList"/>
    <dgm:cxn modelId="{D98351C4-2E65-48CB-97F3-C60FFFAFCAA9}" type="presParOf" srcId="{86198FEA-1700-43DB-B376-636C549E1144}" destId="{9548A050-C2DE-4F2F-8D12-FDB6BDAAEB33}" srcOrd="1" destOrd="0" presId="urn:microsoft.com/office/officeart/2018/2/layout/IconVerticalSolidList"/>
    <dgm:cxn modelId="{EDCA3AC9-F6EB-4319-94FA-A2FB097F865D}" type="presParOf" srcId="{86198FEA-1700-43DB-B376-636C549E1144}" destId="{B2796591-B449-4A03-9B41-5FE36EF9A1CA}" srcOrd="2" destOrd="0" presId="urn:microsoft.com/office/officeart/2018/2/layout/IconVerticalSolidList"/>
    <dgm:cxn modelId="{E958675A-766F-474E-AC87-DE2A89EFA781}" type="presParOf" srcId="{86198FEA-1700-43DB-B376-636C549E1144}" destId="{7F39764B-1050-46D4-BBDF-E2584A12784A}" srcOrd="3" destOrd="0" presId="urn:microsoft.com/office/officeart/2018/2/layout/IconVerticalSolidList"/>
    <dgm:cxn modelId="{2AE807C5-8469-455D-9C9F-6802B21046D1}" type="presParOf" srcId="{1DB90F49-5015-43B9-AA79-42E42482B816}" destId="{122B103A-1823-456F-8BA6-95BB59E00E1A}" srcOrd="7" destOrd="0" presId="urn:microsoft.com/office/officeart/2018/2/layout/IconVerticalSolidList"/>
    <dgm:cxn modelId="{5454969C-822A-4CE3-9A5C-EAB6F2AEF698}" type="presParOf" srcId="{1DB90F49-5015-43B9-AA79-42E42482B816}" destId="{1892950F-FF6D-4B88-9A5C-9777882865D1}" srcOrd="8" destOrd="0" presId="urn:microsoft.com/office/officeart/2018/2/layout/IconVerticalSolidList"/>
    <dgm:cxn modelId="{90C913F0-F6EF-4635-977B-9E6B03A62B4E}" type="presParOf" srcId="{1892950F-FF6D-4B88-9A5C-9777882865D1}" destId="{A14E9F47-408D-4F99-B688-17B759FCF0C5}" srcOrd="0" destOrd="0" presId="urn:microsoft.com/office/officeart/2018/2/layout/IconVerticalSolidList"/>
    <dgm:cxn modelId="{7725CC65-EF3F-43A6-8BC9-1D99C4B0CCCD}" type="presParOf" srcId="{1892950F-FF6D-4B88-9A5C-9777882865D1}" destId="{AA554671-3E47-4AB2-9FF1-52410CD19733}" srcOrd="1" destOrd="0" presId="urn:microsoft.com/office/officeart/2018/2/layout/IconVerticalSolidList"/>
    <dgm:cxn modelId="{6EAB3B6E-54A4-46D1-B046-D0699E2D04BB}" type="presParOf" srcId="{1892950F-FF6D-4B88-9A5C-9777882865D1}" destId="{1A021494-C44F-45F2-9A35-79B3442126E5}" srcOrd="2" destOrd="0" presId="urn:microsoft.com/office/officeart/2018/2/layout/IconVerticalSolidList"/>
    <dgm:cxn modelId="{5982114D-8373-46EB-9480-18A69489C6F4}" type="presParOf" srcId="{1892950F-FF6D-4B88-9A5C-9777882865D1}" destId="{ACE01960-7355-4139-8FDC-95712D07407C}" srcOrd="3" destOrd="0" presId="urn:microsoft.com/office/officeart/2018/2/layout/IconVerticalSolidList"/>
    <dgm:cxn modelId="{8F92F3FF-AABA-4B8B-A923-B0235E7F3379}" type="presParOf" srcId="{1DB90F49-5015-43B9-AA79-42E42482B816}" destId="{E5B62740-6E8A-45DA-8068-82452307E3AA}" srcOrd="9" destOrd="0" presId="urn:microsoft.com/office/officeart/2018/2/layout/IconVerticalSolidList"/>
    <dgm:cxn modelId="{FF8488C8-2722-4C54-84EB-22CEFF4E3A3A}" type="presParOf" srcId="{1DB90F49-5015-43B9-AA79-42E42482B816}" destId="{B89148AF-C6BB-4914-86FA-7ADB22B9CC3E}" srcOrd="10" destOrd="0" presId="urn:microsoft.com/office/officeart/2018/2/layout/IconVerticalSolidList"/>
    <dgm:cxn modelId="{599CC1C5-84DB-421B-8B34-B430E6D48ED8}" type="presParOf" srcId="{B89148AF-C6BB-4914-86FA-7ADB22B9CC3E}" destId="{6FFB8575-9936-4BF7-8B2C-4EB6A4428A5C}" srcOrd="0" destOrd="0" presId="urn:microsoft.com/office/officeart/2018/2/layout/IconVerticalSolidList"/>
    <dgm:cxn modelId="{5CA6E065-20B0-4534-A23E-E9A5B1A6274A}" type="presParOf" srcId="{B89148AF-C6BB-4914-86FA-7ADB22B9CC3E}" destId="{22D54BE2-13BD-4AF1-A178-EBB2F9263362}" srcOrd="1" destOrd="0" presId="urn:microsoft.com/office/officeart/2018/2/layout/IconVerticalSolidList"/>
    <dgm:cxn modelId="{802FBC6B-A895-4F1C-8DD2-8C976F55E235}" type="presParOf" srcId="{B89148AF-C6BB-4914-86FA-7ADB22B9CC3E}" destId="{5394B7B4-8669-4D48-A290-8224A6A7C1DB}" srcOrd="2" destOrd="0" presId="urn:microsoft.com/office/officeart/2018/2/layout/IconVerticalSolidList"/>
    <dgm:cxn modelId="{D88263FC-7342-45C5-9503-915EBAE30E9B}" type="presParOf" srcId="{B89148AF-C6BB-4914-86FA-7ADB22B9CC3E}" destId="{3E24EACA-CB7A-46A5-957D-497ED9961459}" srcOrd="3" destOrd="0" presId="urn:microsoft.com/office/officeart/2018/2/layout/IconVerticalSolidList"/>
    <dgm:cxn modelId="{EC650DE5-AFDD-4F6C-BA75-919A01BEC07D}" type="presParOf" srcId="{1DB90F49-5015-43B9-AA79-42E42482B816}" destId="{C6CB3B93-A6D8-4945-B97F-2414CE8CB7A1}" srcOrd="11" destOrd="0" presId="urn:microsoft.com/office/officeart/2018/2/layout/IconVerticalSolidList"/>
    <dgm:cxn modelId="{AF94FBDA-5051-4F0D-838D-CBC2225E967E}" type="presParOf" srcId="{1DB90F49-5015-43B9-AA79-42E42482B816}" destId="{21CE5388-F5D3-4910-9C47-2D542647AE38}" srcOrd="12" destOrd="0" presId="urn:microsoft.com/office/officeart/2018/2/layout/IconVerticalSolidList"/>
    <dgm:cxn modelId="{F822E9AD-34E5-4206-9E88-EDB53581A7E0}" type="presParOf" srcId="{21CE5388-F5D3-4910-9C47-2D542647AE38}" destId="{BF89838A-A0C5-48A3-A8A0-8200D02032CF}" srcOrd="0" destOrd="0" presId="urn:microsoft.com/office/officeart/2018/2/layout/IconVerticalSolidList"/>
    <dgm:cxn modelId="{7B86DE61-CBF1-4049-A437-9F299E0CC10A}" type="presParOf" srcId="{21CE5388-F5D3-4910-9C47-2D542647AE38}" destId="{3BE14975-7661-43D1-A59F-13F18C6020C4}" srcOrd="1" destOrd="0" presId="urn:microsoft.com/office/officeart/2018/2/layout/IconVerticalSolidList"/>
    <dgm:cxn modelId="{2D41168E-67F9-4201-9132-E2475C62B5AD}" type="presParOf" srcId="{21CE5388-F5D3-4910-9C47-2D542647AE38}" destId="{0798DA28-71A5-4EB4-AEBF-A170603524EE}" srcOrd="2" destOrd="0" presId="urn:microsoft.com/office/officeart/2018/2/layout/IconVerticalSolidList"/>
    <dgm:cxn modelId="{06BFB945-E76F-462A-A0B2-811DFC5A67E1}" type="presParOf" srcId="{21CE5388-F5D3-4910-9C47-2D542647AE38}" destId="{DF77EB46-CCF8-4389-B45A-25E72CE815F0}" srcOrd="3" destOrd="0" presId="urn:microsoft.com/office/officeart/2018/2/layout/IconVerticalSolidList"/>
    <dgm:cxn modelId="{44C65351-1A15-475E-A6BC-542198DFE950}" type="presParOf" srcId="{1DB90F49-5015-43B9-AA79-42E42482B816}" destId="{5EF01C77-405A-4F59-830F-5AA1C04E5D3C}" srcOrd="13" destOrd="0" presId="urn:microsoft.com/office/officeart/2018/2/layout/IconVerticalSolidList"/>
    <dgm:cxn modelId="{2141847B-CBD6-419A-8AF7-114C8FF6A07B}" type="presParOf" srcId="{1DB90F49-5015-43B9-AA79-42E42482B816}" destId="{898F2862-F1BF-4726-86BF-FFA5778598BD}" srcOrd="14" destOrd="0" presId="urn:microsoft.com/office/officeart/2018/2/layout/IconVerticalSolidList"/>
    <dgm:cxn modelId="{333D3A8B-86F8-4A1E-9482-40838D5902EE}" type="presParOf" srcId="{898F2862-F1BF-4726-86BF-FFA5778598BD}" destId="{668E8A4F-1B44-4A5A-923C-AAFBD4C47278}" srcOrd="0" destOrd="0" presId="urn:microsoft.com/office/officeart/2018/2/layout/IconVerticalSolidList"/>
    <dgm:cxn modelId="{2344F0E7-04B9-4A13-B2E7-F271CE68991E}" type="presParOf" srcId="{898F2862-F1BF-4726-86BF-FFA5778598BD}" destId="{C9A30EDF-F85F-43E1-AD0F-2405CE5C573B}" srcOrd="1" destOrd="0" presId="urn:microsoft.com/office/officeart/2018/2/layout/IconVerticalSolidList"/>
    <dgm:cxn modelId="{8DA780D7-03E2-43FC-93B3-57F2722A66C1}" type="presParOf" srcId="{898F2862-F1BF-4726-86BF-FFA5778598BD}" destId="{027D4DEB-7A7A-4B00-885E-8F14C88C6F8E}" srcOrd="2" destOrd="0" presId="urn:microsoft.com/office/officeart/2018/2/layout/IconVerticalSolidList"/>
    <dgm:cxn modelId="{F53E8CB3-7C15-4995-8508-17A47B9F3B5A}" type="presParOf" srcId="{898F2862-F1BF-4726-86BF-FFA5778598BD}" destId="{CE7B6D38-610A-41D6-901B-5CE45393D2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18EBD6-39A8-49BD-9C6F-EB8875F59F9D}">
      <dsp:nvSpPr>
        <dsp:cNvPr id="0" name=""/>
        <dsp:cNvSpPr/>
      </dsp:nvSpPr>
      <dsp:spPr>
        <a:xfrm>
          <a:off x="0" y="3428"/>
          <a:ext cx="9262045" cy="4604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793AAE-D7CA-41D3-923B-A1BEB032DAF3}">
      <dsp:nvSpPr>
        <dsp:cNvPr id="0" name=""/>
        <dsp:cNvSpPr/>
      </dsp:nvSpPr>
      <dsp:spPr>
        <a:xfrm>
          <a:off x="139283" y="107028"/>
          <a:ext cx="253490" cy="2532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94ECC-5A9E-4C81-95B4-9452AC33AF5F}">
      <dsp:nvSpPr>
        <dsp:cNvPr id="0" name=""/>
        <dsp:cNvSpPr/>
      </dsp:nvSpPr>
      <dsp:spPr>
        <a:xfrm>
          <a:off x="532058" y="3428"/>
          <a:ext cx="8666341" cy="575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13" tIns="60913" rIns="60913" bIns="60913" numCol="1" spcCol="1270" anchor="ctr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b="1" kern="1200" dirty="0"/>
            <a:t>13. Impacto del proyecto</a:t>
          </a:r>
          <a:endParaRPr lang="en-US" sz="3600" kern="1200" dirty="0"/>
        </a:p>
      </dsp:txBody>
      <dsp:txXfrm>
        <a:off x="532058" y="3428"/>
        <a:ext cx="8666341" cy="575553"/>
      </dsp:txXfrm>
    </dsp:sp>
    <dsp:sp modelId="{316501BD-9546-4B21-AF27-89C60D4D220A}">
      <dsp:nvSpPr>
        <dsp:cNvPr id="0" name=""/>
        <dsp:cNvSpPr/>
      </dsp:nvSpPr>
      <dsp:spPr>
        <a:xfrm>
          <a:off x="0" y="722870"/>
          <a:ext cx="9262045" cy="4604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03F3ED-CB60-41DF-9143-B31D03FB7C05}">
      <dsp:nvSpPr>
        <dsp:cNvPr id="0" name=""/>
        <dsp:cNvSpPr/>
      </dsp:nvSpPr>
      <dsp:spPr>
        <a:xfrm>
          <a:off x="139283" y="826469"/>
          <a:ext cx="253490" cy="2532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F7F0A-A318-4C83-8517-1F076D7A32F9}">
      <dsp:nvSpPr>
        <dsp:cNvPr id="0" name=""/>
        <dsp:cNvSpPr/>
      </dsp:nvSpPr>
      <dsp:spPr>
        <a:xfrm>
          <a:off x="532058" y="722870"/>
          <a:ext cx="8666341" cy="575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13" tIns="60913" rIns="60913" bIns="6091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/>
            <a:t>Impacto institucional</a:t>
          </a:r>
          <a:endParaRPr lang="en-US" sz="1600" kern="1200"/>
        </a:p>
      </dsp:txBody>
      <dsp:txXfrm>
        <a:off x="532058" y="722870"/>
        <a:ext cx="8666341" cy="575553"/>
      </dsp:txXfrm>
    </dsp:sp>
    <dsp:sp modelId="{966C3374-EE1A-4A97-854C-6CE3E98BE5A7}">
      <dsp:nvSpPr>
        <dsp:cNvPr id="0" name=""/>
        <dsp:cNvSpPr/>
      </dsp:nvSpPr>
      <dsp:spPr>
        <a:xfrm>
          <a:off x="0" y="1442311"/>
          <a:ext cx="9262045" cy="4604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C40510-9A25-4052-9AB9-144B48919BC1}">
      <dsp:nvSpPr>
        <dsp:cNvPr id="0" name=""/>
        <dsp:cNvSpPr/>
      </dsp:nvSpPr>
      <dsp:spPr>
        <a:xfrm>
          <a:off x="139283" y="1545911"/>
          <a:ext cx="253490" cy="2532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F4E11-E07E-41D3-8217-D3A93B299DC4}">
      <dsp:nvSpPr>
        <dsp:cNvPr id="0" name=""/>
        <dsp:cNvSpPr/>
      </dsp:nvSpPr>
      <dsp:spPr>
        <a:xfrm>
          <a:off x="532058" y="1442311"/>
          <a:ext cx="8666341" cy="575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13" tIns="60913" rIns="60913" bIns="6091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bg2">
                  <a:lumMod val="10000"/>
                </a:schemeClr>
              </a:solidFill>
            </a:rPr>
            <a:t>Mejora en la organización del archivo.</a:t>
          </a:r>
          <a:endParaRPr lang="en-US" sz="16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532058" y="1442311"/>
        <a:ext cx="8666341" cy="575553"/>
      </dsp:txXfrm>
    </dsp:sp>
    <dsp:sp modelId="{A8020E08-FDD2-4A89-A901-B0CA0E9E28E6}">
      <dsp:nvSpPr>
        <dsp:cNvPr id="0" name=""/>
        <dsp:cNvSpPr/>
      </dsp:nvSpPr>
      <dsp:spPr>
        <a:xfrm>
          <a:off x="0" y="2161753"/>
          <a:ext cx="9262045" cy="4604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8A050-C2DE-4F2F-8D12-FDB6BDAAEB33}">
      <dsp:nvSpPr>
        <dsp:cNvPr id="0" name=""/>
        <dsp:cNvSpPr/>
      </dsp:nvSpPr>
      <dsp:spPr>
        <a:xfrm>
          <a:off x="139283" y="2265352"/>
          <a:ext cx="253490" cy="2532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39764B-1050-46D4-BBDF-E2584A12784A}">
      <dsp:nvSpPr>
        <dsp:cNvPr id="0" name=""/>
        <dsp:cNvSpPr/>
      </dsp:nvSpPr>
      <dsp:spPr>
        <a:xfrm>
          <a:off x="532058" y="2161753"/>
          <a:ext cx="8666341" cy="575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13" tIns="60913" rIns="60913" bIns="6091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bg2">
                  <a:lumMod val="10000"/>
                </a:schemeClr>
              </a:solidFill>
            </a:rPr>
            <a:t>Mayor control documental.</a:t>
          </a:r>
          <a:endParaRPr lang="en-US" sz="16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532058" y="2161753"/>
        <a:ext cx="8666341" cy="575553"/>
      </dsp:txXfrm>
    </dsp:sp>
    <dsp:sp modelId="{A14E9F47-408D-4F99-B688-17B759FCF0C5}">
      <dsp:nvSpPr>
        <dsp:cNvPr id="0" name=""/>
        <dsp:cNvSpPr/>
      </dsp:nvSpPr>
      <dsp:spPr>
        <a:xfrm>
          <a:off x="0" y="2881194"/>
          <a:ext cx="9262045" cy="4604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554671-3E47-4AB2-9FF1-52410CD19733}">
      <dsp:nvSpPr>
        <dsp:cNvPr id="0" name=""/>
        <dsp:cNvSpPr/>
      </dsp:nvSpPr>
      <dsp:spPr>
        <a:xfrm>
          <a:off x="139283" y="2984794"/>
          <a:ext cx="253490" cy="25324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E01960-7355-4139-8FDC-95712D07407C}">
      <dsp:nvSpPr>
        <dsp:cNvPr id="0" name=""/>
        <dsp:cNvSpPr/>
      </dsp:nvSpPr>
      <dsp:spPr>
        <a:xfrm>
          <a:off x="532058" y="2881194"/>
          <a:ext cx="8666341" cy="575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13" tIns="60913" rIns="60913" bIns="6091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/>
            <a:t>Impacto formativo</a:t>
          </a:r>
          <a:endParaRPr lang="en-US" sz="1600" kern="1200"/>
        </a:p>
      </dsp:txBody>
      <dsp:txXfrm>
        <a:off x="532058" y="2881194"/>
        <a:ext cx="8666341" cy="575553"/>
      </dsp:txXfrm>
    </dsp:sp>
    <dsp:sp modelId="{6FFB8575-9936-4BF7-8B2C-4EB6A4428A5C}">
      <dsp:nvSpPr>
        <dsp:cNvPr id="0" name=""/>
        <dsp:cNvSpPr/>
      </dsp:nvSpPr>
      <dsp:spPr>
        <a:xfrm>
          <a:off x="0" y="3600636"/>
          <a:ext cx="9262045" cy="4604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D54BE2-13BD-4AF1-A178-EBB2F9263362}">
      <dsp:nvSpPr>
        <dsp:cNvPr id="0" name=""/>
        <dsp:cNvSpPr/>
      </dsp:nvSpPr>
      <dsp:spPr>
        <a:xfrm>
          <a:off x="139283" y="3704235"/>
          <a:ext cx="253490" cy="25324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4EACA-CB7A-46A5-957D-497ED9961459}">
      <dsp:nvSpPr>
        <dsp:cNvPr id="0" name=""/>
        <dsp:cNvSpPr/>
      </dsp:nvSpPr>
      <dsp:spPr>
        <a:xfrm>
          <a:off x="532058" y="3600636"/>
          <a:ext cx="8666341" cy="575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13" tIns="60913" rIns="60913" bIns="6091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bg2">
                  <a:lumMod val="10000"/>
                </a:schemeClr>
              </a:solidFill>
            </a:rPr>
            <a:t>Aprendizaje aplicado para los aprendices.</a:t>
          </a:r>
          <a:endParaRPr lang="en-US" sz="16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532058" y="3600636"/>
        <a:ext cx="8666341" cy="575553"/>
      </dsp:txXfrm>
    </dsp:sp>
    <dsp:sp modelId="{BF89838A-A0C5-48A3-A8A0-8200D02032CF}">
      <dsp:nvSpPr>
        <dsp:cNvPr id="0" name=""/>
        <dsp:cNvSpPr/>
      </dsp:nvSpPr>
      <dsp:spPr>
        <a:xfrm>
          <a:off x="0" y="4320077"/>
          <a:ext cx="9262045" cy="4604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E14975-7661-43D1-A59F-13F18C6020C4}">
      <dsp:nvSpPr>
        <dsp:cNvPr id="0" name=""/>
        <dsp:cNvSpPr/>
      </dsp:nvSpPr>
      <dsp:spPr>
        <a:xfrm>
          <a:off x="139283" y="4423677"/>
          <a:ext cx="253490" cy="25324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7EB46-CCF8-4389-B45A-25E72CE815F0}">
      <dsp:nvSpPr>
        <dsp:cNvPr id="0" name=""/>
        <dsp:cNvSpPr/>
      </dsp:nvSpPr>
      <dsp:spPr>
        <a:xfrm>
          <a:off x="532058" y="4320077"/>
          <a:ext cx="8666341" cy="575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13" tIns="60913" rIns="60913" bIns="6091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/>
            <a:t>Impacto social</a:t>
          </a:r>
          <a:endParaRPr lang="en-US" sz="1600" kern="1200"/>
        </a:p>
      </dsp:txBody>
      <dsp:txXfrm>
        <a:off x="532058" y="4320077"/>
        <a:ext cx="8666341" cy="575553"/>
      </dsp:txXfrm>
    </dsp:sp>
    <dsp:sp modelId="{668E8A4F-1B44-4A5A-923C-AAFBD4C47278}">
      <dsp:nvSpPr>
        <dsp:cNvPr id="0" name=""/>
        <dsp:cNvSpPr/>
      </dsp:nvSpPr>
      <dsp:spPr>
        <a:xfrm>
          <a:off x="0" y="5039519"/>
          <a:ext cx="9262045" cy="4604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A30EDF-F85F-43E1-AD0F-2405CE5C573B}">
      <dsp:nvSpPr>
        <dsp:cNvPr id="0" name=""/>
        <dsp:cNvSpPr/>
      </dsp:nvSpPr>
      <dsp:spPr>
        <a:xfrm>
          <a:off x="139283" y="5143118"/>
          <a:ext cx="253490" cy="253243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B6D38-610A-41D6-901B-5CE45393D2C4}">
      <dsp:nvSpPr>
        <dsp:cNvPr id="0" name=""/>
        <dsp:cNvSpPr/>
      </dsp:nvSpPr>
      <dsp:spPr>
        <a:xfrm>
          <a:off x="532058" y="5039519"/>
          <a:ext cx="8666341" cy="575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13" tIns="60913" rIns="60913" bIns="6091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bg2">
                  <a:lumMod val="10000"/>
                </a:schemeClr>
              </a:solidFill>
            </a:rPr>
            <a:t>Fortalecimiento de la </a:t>
          </a:r>
          <a:r>
            <a:rPr lang="es-MX" sz="1600" b="1" kern="1200" dirty="0">
              <a:solidFill>
                <a:schemeClr val="bg2">
                  <a:lumMod val="10000"/>
                </a:schemeClr>
              </a:solidFill>
            </a:rPr>
            <a:t>transparencia y acceso a la información pública</a:t>
          </a:r>
          <a:endParaRPr lang="en-US" sz="16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532058" y="5039519"/>
        <a:ext cx="8666341" cy="5755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97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661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009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134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18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479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0973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23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772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638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9751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147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f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FCF1B-3E11-3F22-6015-1D39D506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4E74E67-5DA0-D842-19A5-A58C5A6DD5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81EE8E9-258F-5D3D-5407-C96214A312A8}"/>
              </a:ext>
            </a:extLst>
          </p:cNvPr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kumimoji="0" lang="es-CO" sz="10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SEMIBOLD ROMAN" pitchFamily="2" charset="77"/>
                <a:cs typeface="Arial" panose="020B0604020202020204" pitchFamily="34" charset="0"/>
              </a:rPr>
              <a:t>Clasificación de la información: </a:t>
            </a: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Pública</a:t>
            </a:r>
            <a:endParaRPr kumimoji="0" lang="es-CO" sz="10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SEMIBOLD ROMAN" pitchFamily="2" charset="77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CADDAD1-10BB-AF67-E739-CB89E47AAFA9}"/>
              </a:ext>
            </a:extLst>
          </p:cNvPr>
          <p:cNvSpPr txBox="1"/>
          <p:nvPr/>
        </p:nvSpPr>
        <p:spPr>
          <a:xfrm>
            <a:off x="1129014" y="1191146"/>
            <a:ext cx="907855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b="1" dirty="0"/>
              <a:t>Fortalecimiento de los procesos de organización documental en entidades territoriales y públicas de la provincia de Vélez</a:t>
            </a:r>
          </a:p>
          <a:p>
            <a:endParaRPr lang="es-MX" dirty="0">
              <a:solidFill>
                <a:schemeClr val="accent5"/>
              </a:solidFill>
            </a:endParaRPr>
          </a:p>
          <a:p>
            <a:r>
              <a:rPr lang="es-MX" b="1" dirty="0">
                <a:solidFill>
                  <a:schemeClr val="bg2">
                    <a:lumMod val="10000"/>
                  </a:schemeClr>
                </a:solidFill>
              </a:rPr>
              <a:t>Semillero: </a:t>
            </a:r>
            <a:r>
              <a:rPr lang="es-CO" dirty="0">
                <a:solidFill>
                  <a:schemeClr val="bg2">
                    <a:lumMod val="10000"/>
                  </a:schemeClr>
                </a:solidFill>
              </a:rPr>
              <a:t>SIADM</a:t>
            </a:r>
            <a:endParaRPr lang="es-MX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s-MX" b="1" dirty="0">
                <a:solidFill>
                  <a:schemeClr val="bg2">
                    <a:lumMod val="10000"/>
                  </a:schemeClr>
                </a:solidFill>
              </a:rPr>
              <a:t>Programa: </a:t>
            </a:r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Técnico en Asistencia en Organización de Archivos</a:t>
            </a:r>
          </a:p>
          <a:p>
            <a:endParaRPr lang="es-MX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Servicio Nacional de Aprendizaje – SENA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Centro de Gestión Agroempresarial del Oriente</a:t>
            </a:r>
          </a:p>
        </p:txBody>
      </p:sp>
    </p:spTree>
    <p:extLst>
      <p:ext uri="{BB962C8B-B14F-4D97-AF65-F5344CB8AC3E}">
        <p14:creationId xmlns:p14="http://schemas.microsoft.com/office/powerpoint/2010/main" val="2619423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CD966-F813-E10E-96CE-F7706541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F682174-DD10-3D1D-BFD5-478085004C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766009E-00F7-0436-FC93-CC43F2F34680}"/>
              </a:ext>
            </a:extLst>
          </p:cNvPr>
          <p:cNvSpPr txBox="1"/>
          <p:nvPr/>
        </p:nvSpPr>
        <p:spPr>
          <a:xfrm>
            <a:off x="391886" y="296863"/>
            <a:ext cx="32021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Clasificación de la información: Pública clasificada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5130A8F-704B-3E94-EBAC-544C43BD2357}"/>
              </a:ext>
            </a:extLst>
          </p:cNvPr>
          <p:cNvSpPr txBox="1"/>
          <p:nvPr/>
        </p:nvSpPr>
        <p:spPr>
          <a:xfrm>
            <a:off x="1061317" y="936009"/>
            <a:ext cx="5309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2. Introducción</a:t>
            </a:r>
          </a:p>
          <a:p>
            <a:pPr>
              <a:buNone/>
            </a:pPr>
            <a:endParaRPr lang="es-MX" b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2CC3BDA-6654-EBA7-5DC7-7A637B777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106" y="2572393"/>
            <a:ext cx="3616699" cy="254824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0CDB53B-77C6-6E5B-9437-8CA70EB46399}"/>
              </a:ext>
            </a:extLst>
          </p:cNvPr>
          <p:cNvSpPr txBox="1"/>
          <p:nvPr/>
        </p:nvSpPr>
        <p:spPr>
          <a:xfrm>
            <a:off x="918195" y="1291010"/>
            <a:ext cx="663554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La gestión documental es clave para:</a:t>
            </a:r>
          </a:p>
          <a:p>
            <a:r>
              <a:rPr lang="es-MX" b="1" dirty="0">
                <a:solidFill>
                  <a:schemeClr val="bg2">
                    <a:lumMod val="10000"/>
                  </a:schemeClr>
                </a:solidFill>
              </a:rPr>
              <a:t>Transparencia</a:t>
            </a:r>
          </a:p>
          <a:p>
            <a:r>
              <a:rPr lang="es-MX" b="1" dirty="0">
                <a:solidFill>
                  <a:schemeClr val="bg2">
                    <a:lumMod val="10000"/>
                  </a:schemeClr>
                </a:solidFill>
              </a:rPr>
              <a:t>Acceso a la información</a:t>
            </a:r>
          </a:p>
          <a:p>
            <a:r>
              <a:rPr lang="es-MX" b="1" dirty="0">
                <a:solidFill>
                  <a:schemeClr val="bg2">
                    <a:lumMod val="10000"/>
                  </a:schemeClr>
                </a:solidFill>
              </a:rPr>
              <a:t>Eficiencia administrativa</a:t>
            </a:r>
          </a:p>
          <a:p>
            <a:endParaRPr lang="es-MX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Se identifican debilidades en entidades públicas de la provincia de Vélez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Problemas en: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Clasificación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Ordenación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Foliación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Digitalización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El proyecto articula formación técnica con intervención real</a:t>
            </a:r>
          </a:p>
        </p:txBody>
      </p:sp>
    </p:spTree>
    <p:extLst>
      <p:ext uri="{BB962C8B-B14F-4D97-AF65-F5344CB8AC3E}">
        <p14:creationId xmlns:p14="http://schemas.microsoft.com/office/powerpoint/2010/main" val="1745575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0BB2F8-7A7C-B0DA-5EDF-BE80D1E5EA43}"/>
              </a:ext>
            </a:extLst>
          </p:cNvPr>
          <p:cNvSpPr txBox="1"/>
          <p:nvPr/>
        </p:nvSpPr>
        <p:spPr>
          <a:xfrm>
            <a:off x="6513788" y="365125"/>
            <a:ext cx="4840010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latin typeface="+mj-lt"/>
                <a:ea typeface="+mj-ea"/>
                <a:cs typeface="+mj-cs"/>
              </a:rPr>
              <a:t>3: CONTEXTO DEL PROBLEMA</a:t>
            </a:r>
          </a:p>
        </p:txBody>
      </p:sp>
      <p:pic>
        <p:nvPicPr>
          <p:cNvPr id="4100" name="Picture 4" descr="CLASIFICACIÓN DOCUMENTAL">
            <a:extLst>
              <a:ext uri="{FF2B5EF4-FFF2-40B4-BE49-F238E27FC236}">
                <a16:creationId xmlns:a16="http://schemas.microsoft.com/office/drawing/2014/main" id="{DDAFF34C-689D-6459-362F-9E698C40F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2" r="27526"/>
          <a:stretch>
            <a:fillRect/>
          </a:stretch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EA8E6E1-0551-642C-B2F2-F79755C00BCC}"/>
              </a:ext>
            </a:extLst>
          </p:cNvPr>
          <p:cNvSpPr txBox="1"/>
          <p:nvPr/>
        </p:nvSpPr>
        <p:spPr>
          <a:xfrm>
            <a:off x="6181344" y="2172430"/>
            <a:ext cx="5550408" cy="4320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Entidades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analizadas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: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Concejo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Municipal de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Cimitarra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Hospital San Martín E.S.E.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INPEC Vélez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Falencias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identificadas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: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Desorganización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documental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Inventarios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inexistentes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Digitalización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sin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estándares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Impacto: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Baja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eficiencia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administrativa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Dificultad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acceso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a la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información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149458-8462-5B01-61BB-65472E043C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909471" y="411682"/>
            <a:ext cx="923111" cy="9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03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C34FF-89E7-47C7-3A37-78FFB8A6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1364D8E-78B6-07F8-68E4-61B3214D3D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802C029-25AE-EAC0-B2FF-C2F8E61FB8C5}"/>
              </a:ext>
            </a:extLst>
          </p:cNvPr>
          <p:cNvSpPr txBox="1"/>
          <p:nvPr/>
        </p:nvSpPr>
        <p:spPr>
          <a:xfrm>
            <a:off x="391886" y="296863"/>
            <a:ext cx="317029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Clasificación de la información: Pública reservada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9808FCF-5286-077D-590B-5D06FC366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060" y="1470712"/>
            <a:ext cx="696534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4: PROBLEMA DE INVESTIGACIÓN</a:t>
            </a:r>
          </a:p>
          <a:p>
            <a:endParaRPr lang="es-MX" b="1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s-MX" b="1" dirty="0">
                <a:solidFill>
                  <a:schemeClr val="bg2">
                    <a:lumMod val="10000"/>
                  </a:schemeClr>
                </a:solidFill>
              </a:rPr>
              <a:t>Problema central:</a:t>
            </a:r>
            <a:br>
              <a:rPr lang="es-MX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Insuficiente aplicación de procesos técnicos archivísticos en entidades públicas de la provincia de Vélez</a:t>
            </a:r>
          </a:p>
          <a:p>
            <a:endParaRPr lang="es-MX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s-MX" b="1" dirty="0">
                <a:solidFill>
                  <a:schemeClr val="bg2">
                    <a:lumMod val="10000"/>
                  </a:schemeClr>
                </a:solidFill>
              </a:rPr>
              <a:t>Consecuencias:</a:t>
            </a:r>
            <a:endParaRPr lang="es-MX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Pérdida de control documental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Baja calidad de la información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Incumplimiento normativo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Afectación del derecho de acceso a la información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3C352CA-71E3-5797-0B10-EE455DB32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1996597"/>
            <a:ext cx="3639312" cy="410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1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7EF916B-D2EE-4E34-67B1-9427ED005029}"/>
              </a:ext>
            </a:extLst>
          </p:cNvPr>
          <p:cNvSpPr txBox="1"/>
          <p:nvPr/>
        </p:nvSpPr>
        <p:spPr>
          <a:xfrm>
            <a:off x="445274" y="1144988"/>
            <a:ext cx="5208104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400" b="1" dirty="0"/>
              <a:t>4. Justificación</a:t>
            </a:r>
          </a:p>
          <a:p>
            <a:pPr>
              <a:buNone/>
            </a:pPr>
            <a:endParaRPr lang="es-MX" sz="2000" b="1" dirty="0"/>
          </a:p>
          <a:p>
            <a:r>
              <a:rPr lang="es-MX" sz="2000" dirty="0">
                <a:solidFill>
                  <a:schemeClr val="bg2">
                    <a:lumMod val="10000"/>
                  </a:schemeClr>
                </a:solidFill>
              </a:rPr>
              <a:t>Fortalece la gestión documental como eje estratégico Contribuye a:</a:t>
            </a:r>
          </a:p>
          <a:p>
            <a:endParaRPr lang="es-MX" sz="2000" dirty="0">
              <a:solidFill>
                <a:schemeClr val="bg2">
                  <a:lumMod val="10000"/>
                </a:schemeClr>
              </a:solidFill>
            </a:endParaRPr>
          </a:p>
          <a:p>
            <a:pPr lvl="1"/>
            <a:r>
              <a:rPr lang="es-MX" sz="2000" dirty="0">
                <a:solidFill>
                  <a:schemeClr val="bg2">
                    <a:lumMod val="10000"/>
                  </a:schemeClr>
                </a:solidFill>
              </a:rPr>
              <a:t>Transparencia (Ley 1712 de 2014)</a:t>
            </a:r>
          </a:p>
          <a:p>
            <a:pPr lvl="1"/>
            <a:r>
              <a:rPr lang="es-MX" sz="2000" dirty="0">
                <a:solidFill>
                  <a:schemeClr val="bg2">
                    <a:lumMod val="10000"/>
                  </a:schemeClr>
                </a:solidFill>
              </a:rPr>
              <a:t>Organización archivística (Ley 594 de 2000)</a:t>
            </a:r>
          </a:p>
          <a:p>
            <a:endParaRPr lang="es-MX" sz="2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s-MX" sz="2000" b="1" dirty="0">
                <a:solidFill>
                  <a:schemeClr val="bg2">
                    <a:lumMod val="10000"/>
                  </a:schemeClr>
                </a:solidFill>
              </a:rPr>
              <a:t>Impacto:</a:t>
            </a:r>
          </a:p>
          <a:p>
            <a:pPr lvl="1"/>
            <a:r>
              <a:rPr lang="es-MX" sz="2000" dirty="0">
                <a:solidFill>
                  <a:schemeClr val="bg2">
                    <a:lumMod val="10000"/>
                  </a:schemeClr>
                </a:solidFill>
              </a:rPr>
              <a:t>Institucional</a:t>
            </a:r>
          </a:p>
          <a:p>
            <a:pPr lvl="1"/>
            <a:r>
              <a:rPr lang="es-MX" sz="2000" dirty="0">
                <a:solidFill>
                  <a:schemeClr val="bg2">
                    <a:lumMod val="10000"/>
                  </a:schemeClr>
                </a:solidFill>
              </a:rPr>
              <a:t>Formativo</a:t>
            </a:r>
          </a:p>
          <a:p>
            <a:pPr lvl="1"/>
            <a:r>
              <a:rPr lang="es-MX" sz="2000" dirty="0">
                <a:solidFill>
                  <a:schemeClr val="bg2">
                    <a:lumMod val="10000"/>
                  </a:schemeClr>
                </a:solidFill>
              </a:rPr>
              <a:t>Social</a:t>
            </a:r>
          </a:p>
          <a:p>
            <a:pPr lvl="1"/>
            <a:endParaRPr lang="es-MX" sz="2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s-MX" sz="2000" dirty="0">
                <a:solidFill>
                  <a:schemeClr val="bg2">
                    <a:lumMod val="10000"/>
                  </a:schemeClr>
                </a:solidFill>
              </a:rPr>
              <a:t>Promueve cultura archivística en el territorio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00D984F-B198-C5BC-8010-706390FE3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306" y="2570988"/>
            <a:ext cx="6293234" cy="418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42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1AB1E71-077D-B2C2-8D32-DB8922BE948A}"/>
              </a:ext>
            </a:extLst>
          </p:cNvPr>
          <p:cNvSpPr txBox="1"/>
          <p:nvPr/>
        </p:nvSpPr>
        <p:spPr>
          <a:xfrm>
            <a:off x="272233" y="1720276"/>
            <a:ext cx="552426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800" b="1" dirty="0"/>
              <a:t>Objetivo General</a:t>
            </a:r>
          </a:p>
          <a:p>
            <a:pPr>
              <a:buNone/>
            </a:pPr>
            <a:endParaRPr lang="es-MX" sz="2800" b="1" dirty="0"/>
          </a:p>
          <a:p>
            <a:pPr>
              <a:buNone/>
            </a:pPr>
            <a:r>
              <a:rPr lang="es-MX" sz="2800" dirty="0">
                <a:solidFill>
                  <a:schemeClr val="bg2">
                    <a:lumMod val="10000"/>
                  </a:schemeClr>
                </a:solidFill>
              </a:rPr>
              <a:t>Fortalecer los procesos de organización documental en entidades públicas de la provincia de Vélez mediante estrategias pedagógicas e investigativas con aprendices del SENA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463EC74-E2C0-EE72-8ACA-DDCABAB26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097280"/>
            <a:ext cx="5635752" cy="253608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7F92999-D372-D0C7-9EA6-8430CAEB3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3758184"/>
            <a:ext cx="2269799" cy="302639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99A06C2-1C4F-7A39-3861-2FEAC5C72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3" y="3831600"/>
            <a:ext cx="2375124" cy="295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6F7D7-ECFC-17E3-4128-9A12250F6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3F871A7-9267-9F2E-8DFE-79F83A4DC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9357" y="1594142"/>
            <a:ext cx="3012643" cy="492861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81803E0-2381-8C68-4AEC-62229AC85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395" y="3429000"/>
            <a:ext cx="2781764" cy="239026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9A29651-A09C-AEF2-D33F-FFFB469BF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197" y="463961"/>
            <a:ext cx="2781764" cy="2965039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FC331413-79A3-FE9B-8B18-6FA81789E5BB}"/>
              </a:ext>
            </a:extLst>
          </p:cNvPr>
          <p:cNvSpPr txBox="1"/>
          <p:nvPr/>
        </p:nvSpPr>
        <p:spPr>
          <a:xfrm>
            <a:off x="844726" y="793165"/>
            <a:ext cx="60944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3200" b="1" dirty="0"/>
              <a:t>Objetivos Específicos</a:t>
            </a:r>
          </a:p>
          <a:p>
            <a:pPr>
              <a:buNone/>
            </a:pPr>
            <a:endParaRPr lang="es-MX" sz="18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696BA41-B3E6-9142-D409-A738E689950E}"/>
              </a:ext>
            </a:extLst>
          </p:cNvPr>
          <p:cNvSpPr txBox="1"/>
          <p:nvPr/>
        </p:nvSpPr>
        <p:spPr>
          <a:xfrm>
            <a:off x="573625" y="1746111"/>
            <a:ext cx="60946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Diagnosticar el estado documental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Aplicar procesos archivísticos técnicos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Organizar y foliar expedientes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Elaborar inventarios documentales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Implementar digitalización e indexación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Evaluar impacto del proyecto</a:t>
            </a:r>
          </a:p>
        </p:txBody>
      </p:sp>
    </p:spTree>
    <p:extLst>
      <p:ext uri="{BB962C8B-B14F-4D97-AF65-F5344CB8AC3E}">
        <p14:creationId xmlns:p14="http://schemas.microsoft.com/office/powerpoint/2010/main" val="1840153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08785-A3E1-7BD1-5FAC-FD636F797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78947D9-0C5B-5888-DA07-DA57FCC3AD75}"/>
              </a:ext>
            </a:extLst>
          </p:cNvPr>
          <p:cNvSpPr txBox="1"/>
          <p:nvPr/>
        </p:nvSpPr>
        <p:spPr>
          <a:xfrm>
            <a:off x="453224" y="429371"/>
            <a:ext cx="581240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800" b="1" dirty="0"/>
              <a:t>7. Referente teórico</a:t>
            </a:r>
          </a:p>
          <a:p>
            <a:pPr>
              <a:buNone/>
            </a:pPr>
            <a:r>
              <a:rPr lang="es-MX" sz="2800" dirty="0">
                <a:solidFill>
                  <a:schemeClr val="accent5"/>
                </a:solidFill>
              </a:rPr>
              <a:t>El estudio se fundamenta en la </a:t>
            </a:r>
            <a:r>
              <a:rPr lang="es-MX" sz="2800" b="1" dirty="0">
                <a:solidFill>
                  <a:schemeClr val="accent5"/>
                </a:solidFill>
              </a:rPr>
              <a:t>teoría archivística y la normativa colombiana</a:t>
            </a:r>
            <a:r>
              <a:rPr lang="es-MX" sz="2800" dirty="0">
                <a:solidFill>
                  <a:schemeClr val="accent5"/>
                </a:solidFill>
              </a:rPr>
              <a:t>.</a:t>
            </a:r>
          </a:p>
          <a:p>
            <a:pPr>
              <a:buNone/>
            </a:pPr>
            <a:r>
              <a:rPr lang="es-MX" sz="2800" dirty="0">
                <a:solidFill>
                  <a:schemeClr val="accent5"/>
                </a:solidFill>
              </a:rPr>
              <a:t>Principios archivísticos: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accent5"/>
                </a:solidFill>
              </a:rPr>
              <a:t>Principio de procedencia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accent5"/>
                </a:solidFill>
              </a:rPr>
              <a:t>Respeto al orden original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accent5"/>
                </a:solidFill>
              </a:rPr>
              <a:t>Integridad y autenticidad documental</a:t>
            </a:r>
          </a:p>
          <a:p>
            <a:pPr>
              <a:buNone/>
            </a:pPr>
            <a:r>
              <a:rPr lang="es-MX" sz="2800" dirty="0">
                <a:solidFill>
                  <a:schemeClr val="accent5"/>
                </a:solidFill>
              </a:rPr>
              <a:t>Autores relevantes: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accent5"/>
                </a:solidFill>
              </a:rPr>
              <a:t>Schellenberg (1956)</a:t>
            </a:r>
            <a:endParaRPr lang="es-MX" sz="1100" dirty="0">
              <a:solidFill>
                <a:schemeClr val="accent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accent5"/>
                </a:solidFill>
              </a:rPr>
              <a:t>Heredia Herrera (1991)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accent5"/>
                </a:solidFill>
              </a:rPr>
              <a:t>Cruz Mundet (2011)</a:t>
            </a:r>
          </a:p>
          <a:p>
            <a:pPr>
              <a:buNone/>
            </a:pPr>
            <a:r>
              <a:rPr lang="es-MX" sz="2800" dirty="0">
                <a:solidFill>
                  <a:schemeClr val="accent5"/>
                </a:solidFill>
              </a:rPr>
              <a:t>Estos fundamentos orientan la </a:t>
            </a:r>
            <a:r>
              <a:rPr lang="es-MX" sz="2800" b="1" dirty="0">
                <a:solidFill>
                  <a:schemeClr val="accent5"/>
                </a:solidFill>
              </a:rPr>
              <a:t>organización, conservación y acceso a los documentos</a:t>
            </a:r>
            <a:r>
              <a:rPr lang="es-MX" sz="2800" dirty="0">
                <a:solidFill>
                  <a:schemeClr val="accent5"/>
                </a:solidFill>
              </a:rPr>
              <a:t>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E2CE6C5-08EA-A96A-6AD1-63EC77FC1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756" y="329184"/>
            <a:ext cx="2232766" cy="333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9227C02-A98D-3155-D553-04691A71473A}"/>
              </a:ext>
            </a:extLst>
          </p:cNvPr>
          <p:cNvSpPr txBox="1"/>
          <p:nvPr/>
        </p:nvSpPr>
        <p:spPr>
          <a:xfrm>
            <a:off x="6627413" y="225475"/>
            <a:ext cx="21229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/>
              <a:t>Propone la valoración documental y la función administrativa, legal e histórica de los archivos</a:t>
            </a:r>
            <a:endParaRPr lang="es-CO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53CCB058-16A5-9FD8-5AA4-DF799FE2D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76207"/>
            <a:ext cx="2484783" cy="2484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577D4A9-FEA0-6A98-70A2-191B111335C3}"/>
              </a:ext>
            </a:extLst>
          </p:cNvPr>
          <p:cNvSpPr txBox="1"/>
          <p:nvPr/>
        </p:nvSpPr>
        <p:spPr>
          <a:xfrm>
            <a:off x="8750411" y="3770453"/>
            <a:ext cx="32600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Destaca el </a:t>
            </a:r>
            <a:r>
              <a:rPr lang="es-MX" b="1" dirty="0"/>
              <a:t>principio de procedencia</a:t>
            </a:r>
            <a:r>
              <a:rPr lang="es-MX" dirty="0"/>
              <a:t> y el </a:t>
            </a:r>
            <a:r>
              <a:rPr lang="es-MX" b="1" dirty="0"/>
              <a:t>respeto al orden original</a:t>
            </a:r>
            <a:endParaRPr lang="es-CO" dirty="0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23A92125-B7DE-E6B0-3942-6FAD61D74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843" y="4693782"/>
            <a:ext cx="1805305" cy="2164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C2A8BC8-49C6-1E03-3401-24551367A0CB}"/>
              </a:ext>
            </a:extLst>
          </p:cNvPr>
          <p:cNvSpPr txBox="1"/>
          <p:nvPr/>
        </p:nvSpPr>
        <p:spPr>
          <a:xfrm>
            <a:off x="6627413" y="5473005"/>
            <a:ext cx="35999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Propone ver la gestión documental como </a:t>
            </a:r>
            <a:r>
              <a:rPr lang="es-MX" b="1" dirty="0"/>
              <a:t>proceso estratégico institucional</a:t>
            </a:r>
            <a:r>
              <a:rPr lang="es-MX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16241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AC5B16F-3F42-AEEB-0445-6FD7E36C4A31}"/>
              </a:ext>
            </a:extLst>
          </p:cNvPr>
          <p:cNvSpPr txBox="1"/>
          <p:nvPr/>
        </p:nvSpPr>
        <p:spPr>
          <a:xfrm>
            <a:off x="445273" y="485030"/>
            <a:ext cx="7793471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3200" b="1" dirty="0"/>
              <a:t>8. Marco normativo</a:t>
            </a:r>
          </a:p>
          <a:p>
            <a:pPr>
              <a:buNone/>
            </a:pPr>
            <a:r>
              <a:rPr lang="es-MX" sz="3200" dirty="0">
                <a:solidFill>
                  <a:schemeClr val="accent5"/>
                </a:solidFill>
              </a:rPr>
              <a:t>Normas que sustentan el proyecto: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solidFill>
                  <a:schemeClr val="accent5"/>
                </a:solidFill>
              </a:rPr>
              <a:t>Ley 594 de 2000</a:t>
            </a:r>
            <a:r>
              <a:rPr lang="es-MX" sz="3200" dirty="0">
                <a:solidFill>
                  <a:schemeClr val="accent5"/>
                </a:solidFill>
              </a:rPr>
              <a:t> – Ley General de Archivos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solidFill>
                  <a:schemeClr val="accent5"/>
                </a:solidFill>
              </a:rPr>
              <a:t>Ley 1712 de 2014</a:t>
            </a:r>
            <a:r>
              <a:rPr lang="es-MX" sz="3200" dirty="0">
                <a:solidFill>
                  <a:schemeClr val="accent5"/>
                </a:solidFill>
              </a:rPr>
              <a:t> – Ley de Transparencia y Acceso a la Información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solidFill>
                  <a:schemeClr val="accent5"/>
                </a:solidFill>
              </a:rPr>
              <a:t>Acuerdo 001 de 2024 del Archivo General de la Nación</a:t>
            </a:r>
            <a:endParaRPr lang="es-MX" sz="3200" dirty="0">
              <a:solidFill>
                <a:schemeClr val="accent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solidFill>
                  <a:schemeClr val="accent5"/>
                </a:solidFill>
              </a:rPr>
              <a:t>NTC 5985</a:t>
            </a:r>
            <a:r>
              <a:rPr lang="es-MX" sz="3200" dirty="0">
                <a:solidFill>
                  <a:schemeClr val="accent5"/>
                </a:solidFill>
              </a:rPr>
              <a:t> – Digitalización de documentos</a:t>
            </a:r>
          </a:p>
          <a:p>
            <a:pPr>
              <a:buNone/>
            </a:pPr>
            <a:r>
              <a:rPr lang="es-MX" sz="3200" dirty="0">
                <a:solidFill>
                  <a:schemeClr val="accent5"/>
                </a:solidFill>
              </a:rPr>
              <a:t>Estas normas establecen lineamientos para: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dirty="0">
                <a:solidFill>
                  <a:schemeClr val="accent5"/>
                </a:solidFill>
              </a:rPr>
              <a:t>Organización documental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dirty="0">
                <a:solidFill>
                  <a:schemeClr val="accent5"/>
                </a:solidFill>
              </a:rPr>
              <a:t>Conservación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dirty="0">
                <a:solidFill>
                  <a:schemeClr val="accent5"/>
                </a:solidFill>
              </a:rPr>
              <a:t>Digitalización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dirty="0">
                <a:solidFill>
                  <a:schemeClr val="accent5"/>
                </a:solidFill>
              </a:rPr>
              <a:t>Acceso a la información pública.</a:t>
            </a:r>
          </a:p>
        </p:txBody>
      </p:sp>
      <p:pic>
        <p:nvPicPr>
          <p:cNvPr id="8196" name="Picture 4" descr="NORMA TÉCNICA NTC COLOMBIANA 1869 - Icontec">
            <a:extLst>
              <a:ext uri="{FF2B5EF4-FFF2-40B4-BE49-F238E27FC236}">
                <a16:creationId xmlns:a16="http://schemas.microsoft.com/office/drawing/2014/main" id="{7E03390A-942A-A9A8-F0E9-E987CD394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344" y="265176"/>
            <a:ext cx="1956816" cy="277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Archivo General de la Nación (Colombia) - Wikipedia, la enciclopedia libre">
            <a:extLst>
              <a:ext uri="{FF2B5EF4-FFF2-40B4-BE49-F238E27FC236}">
                <a16:creationId xmlns:a16="http://schemas.microsoft.com/office/drawing/2014/main" id="{9E93BF9D-7890-3D2D-FCF7-52214F8AA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696" y="3038616"/>
            <a:ext cx="4337304" cy="374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F78E9-9738-5786-404A-69953E362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9684775-B2D4-9392-DA3A-BCBDE0A3960E}"/>
              </a:ext>
            </a:extLst>
          </p:cNvPr>
          <p:cNvSpPr txBox="1"/>
          <p:nvPr/>
        </p:nvSpPr>
        <p:spPr>
          <a:xfrm>
            <a:off x="389614" y="174928"/>
            <a:ext cx="116248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4000" b="1" dirty="0"/>
              <a:t>9. Metodología</a:t>
            </a:r>
          </a:p>
          <a:p>
            <a:pPr>
              <a:buNone/>
            </a:pPr>
            <a:endParaRPr lang="es-MX" sz="4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423969-71F2-94EF-6680-64D70660B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614" y="1038797"/>
            <a:ext cx="492185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Enfoque: 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Cualitativo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Tipo: 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Investigación aplicada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Diseño: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Investigación-acción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Estudio de casos múltiples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FAE849-E0DD-0FED-DDB2-7E9AF6F11D72}"/>
              </a:ext>
            </a:extLst>
          </p:cNvPr>
          <p:cNvSpPr txBox="1"/>
          <p:nvPr/>
        </p:nvSpPr>
        <p:spPr>
          <a:xfrm>
            <a:off x="5311472" y="373712"/>
            <a:ext cx="6490914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b="1" dirty="0"/>
              <a:t>10. POBLACIÓN Y MUESTRA</a:t>
            </a:r>
          </a:p>
          <a:p>
            <a:endParaRPr lang="es-MX" dirty="0"/>
          </a:p>
          <a:p>
            <a:r>
              <a:rPr lang="es-MX" sz="2800" dirty="0">
                <a:solidFill>
                  <a:schemeClr val="bg2">
                    <a:lumMod val="10000"/>
                  </a:schemeClr>
                </a:solidFill>
              </a:rPr>
              <a:t>Documentos institucionales</a:t>
            </a:r>
          </a:p>
          <a:p>
            <a:r>
              <a:rPr lang="es-MX" sz="2800" dirty="0">
                <a:solidFill>
                  <a:schemeClr val="bg2">
                    <a:lumMod val="10000"/>
                  </a:schemeClr>
                </a:solidFill>
              </a:rPr>
              <a:t>Funcionarios</a:t>
            </a:r>
          </a:p>
          <a:p>
            <a:r>
              <a:rPr lang="es-MX" sz="2800" dirty="0">
                <a:solidFill>
                  <a:schemeClr val="bg2">
                    <a:lumMod val="10000"/>
                  </a:schemeClr>
                </a:solidFill>
              </a:rPr>
              <a:t>Aprendices SENA</a:t>
            </a:r>
          </a:p>
          <a:p>
            <a:endParaRPr lang="es-MX" sz="28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s-MX" sz="2800" b="1" dirty="0">
                <a:solidFill>
                  <a:schemeClr val="bg2">
                    <a:lumMod val="10000"/>
                  </a:schemeClr>
                </a:solidFill>
              </a:rPr>
              <a:t>Muestreo:</a:t>
            </a:r>
          </a:p>
          <a:p>
            <a:r>
              <a:rPr lang="es-MX" sz="2800" dirty="0">
                <a:solidFill>
                  <a:schemeClr val="bg2">
                    <a:lumMod val="10000"/>
                  </a:schemeClr>
                </a:solidFill>
              </a:rPr>
              <a:t>No probabilístico – intencional</a:t>
            </a:r>
            <a:endParaRPr lang="es-CO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225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C76FC7-D6BC-9CE2-C9F4-932CD20C2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CF01961-ED5D-DDA5-DC4A-A3A5C7F26604}"/>
              </a:ext>
            </a:extLst>
          </p:cNvPr>
          <p:cNvSpPr txBox="1"/>
          <p:nvPr/>
        </p:nvSpPr>
        <p:spPr>
          <a:xfrm>
            <a:off x="389613" y="222637"/>
            <a:ext cx="11624807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b="1" dirty="0"/>
              <a:t>Técnicas de recolección de información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Se utilizaron las siguientes técnicas:</a:t>
            </a:r>
          </a:p>
          <a:p>
            <a:r>
              <a:rPr lang="es-MX" sz="2800" b="1" dirty="0">
                <a:solidFill>
                  <a:schemeClr val="accent5"/>
                </a:solidFill>
              </a:rPr>
              <a:t>1. Revisión documental</a:t>
            </a:r>
            <a:endParaRPr lang="es-MX" sz="2800" dirty="0">
              <a:solidFill>
                <a:schemeClr val="accent5"/>
              </a:solidFill>
            </a:endParaRPr>
          </a:p>
          <a:p>
            <a:r>
              <a:rPr lang="es-MX" sz="2800" dirty="0">
                <a:solidFill>
                  <a:schemeClr val="accent5"/>
                </a:solidFill>
              </a:rPr>
              <a:t>Análisis de expedientes e inventarios.</a:t>
            </a:r>
          </a:p>
          <a:p>
            <a:r>
              <a:rPr lang="es-MX" sz="2800" b="1" dirty="0">
                <a:solidFill>
                  <a:schemeClr val="accent5"/>
                </a:solidFill>
              </a:rPr>
              <a:t>2. Observación directa</a:t>
            </a:r>
            <a:endParaRPr lang="es-MX" sz="2800" dirty="0">
              <a:solidFill>
                <a:schemeClr val="accent5"/>
              </a:solidFill>
            </a:endParaRPr>
          </a:p>
          <a:p>
            <a:r>
              <a:rPr lang="es-MX" sz="2800" dirty="0">
                <a:solidFill>
                  <a:schemeClr val="accent5"/>
                </a:solidFill>
              </a:rPr>
              <a:t>Seguimiento a los procesos de organización documental.</a:t>
            </a:r>
          </a:p>
          <a:p>
            <a:r>
              <a:rPr lang="es-MX" sz="2800" b="1" dirty="0">
                <a:solidFill>
                  <a:schemeClr val="accent5"/>
                </a:solidFill>
              </a:rPr>
              <a:t>3. Entrevistas semiestructuradas</a:t>
            </a:r>
            <a:endParaRPr lang="es-MX" sz="2800" dirty="0">
              <a:solidFill>
                <a:schemeClr val="accent5"/>
              </a:solidFill>
            </a:endParaRPr>
          </a:p>
          <a:p>
            <a:r>
              <a:rPr lang="es-MX" sz="2800" dirty="0">
                <a:solidFill>
                  <a:schemeClr val="accent5"/>
                </a:solidFill>
              </a:rPr>
              <a:t>Funcionarios y aprendices.</a:t>
            </a:r>
          </a:p>
          <a:p>
            <a:r>
              <a:rPr lang="es-MX" sz="2800" b="1" dirty="0">
                <a:solidFill>
                  <a:schemeClr val="accent5"/>
                </a:solidFill>
              </a:rPr>
              <a:t>4. Análisis técnico archivístico</a:t>
            </a:r>
            <a:endParaRPr lang="es-MX" sz="2800" dirty="0">
              <a:solidFill>
                <a:schemeClr val="accent5"/>
              </a:solidFill>
            </a:endParaRPr>
          </a:p>
          <a:p>
            <a:r>
              <a:rPr lang="es-MX" sz="2800" dirty="0">
                <a:solidFill>
                  <a:schemeClr val="accent5"/>
                </a:solidFill>
              </a:rPr>
              <a:t>Clasificación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Ordenación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Foliación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Inventarios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Digitalización.</a:t>
            </a:r>
          </a:p>
        </p:txBody>
      </p:sp>
    </p:spTree>
    <p:extLst>
      <p:ext uri="{BB962C8B-B14F-4D97-AF65-F5344CB8AC3E}">
        <p14:creationId xmlns:p14="http://schemas.microsoft.com/office/powerpoint/2010/main" val="1024639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3FC33-0176-EEE8-19EC-71C3C6809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1F60FEE-0D5C-9E9C-3D74-198EAA633EBB}"/>
              </a:ext>
            </a:extLst>
          </p:cNvPr>
          <p:cNvSpPr txBox="1"/>
          <p:nvPr/>
        </p:nvSpPr>
        <p:spPr>
          <a:xfrm>
            <a:off x="6106863" y="1214124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4000" b="1" dirty="0" err="1"/>
              <a:t>Fases</a:t>
            </a:r>
            <a:r>
              <a:rPr lang="en-US" sz="4000" b="1" dirty="0"/>
              <a:t> del </a:t>
            </a:r>
            <a:r>
              <a:rPr lang="en-US" sz="4000" b="1" dirty="0" err="1"/>
              <a:t>proyecto</a:t>
            </a:r>
            <a:endParaRPr lang="en-US" sz="40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El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proyecto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se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desarrollará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cuatro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fases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Diagnóstico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Identificación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del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estado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del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archivo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2. Organización documental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Clasificación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ordenación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y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foliación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3.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Digitalización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e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indexación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Captura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digital y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estructuración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registros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4.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Evaluación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Análisis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impacto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institucional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y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formativo</a:t>
            </a:r>
            <a:r>
              <a:rPr lang="en-US" dirty="0"/>
              <a:t>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F9BEEEB-BB6B-8E7A-9C6F-49059B16A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032616"/>
              </p:ext>
            </p:extLst>
          </p:nvPr>
        </p:nvGraphicFramePr>
        <p:xfrm>
          <a:off x="703182" y="2259936"/>
          <a:ext cx="4777382" cy="2437478"/>
        </p:xfrm>
        <a:graphic>
          <a:graphicData uri="http://schemas.openxmlformats.org/drawingml/2006/table">
            <a:tbl>
              <a:tblPr firstRow="1" firstCol="1" bandRow="1"/>
              <a:tblGrid>
                <a:gridCol w="2278376">
                  <a:extLst>
                    <a:ext uri="{9D8B030D-6E8A-4147-A177-3AD203B41FA5}">
                      <a16:colId xmlns:a16="http://schemas.microsoft.com/office/drawing/2014/main" val="3456432041"/>
                    </a:ext>
                  </a:extLst>
                </a:gridCol>
                <a:gridCol w="416501">
                  <a:extLst>
                    <a:ext uri="{9D8B030D-6E8A-4147-A177-3AD203B41FA5}">
                      <a16:colId xmlns:a16="http://schemas.microsoft.com/office/drawing/2014/main" val="346087874"/>
                    </a:ext>
                  </a:extLst>
                </a:gridCol>
                <a:gridCol w="416501">
                  <a:extLst>
                    <a:ext uri="{9D8B030D-6E8A-4147-A177-3AD203B41FA5}">
                      <a16:colId xmlns:a16="http://schemas.microsoft.com/office/drawing/2014/main" val="2608028665"/>
                    </a:ext>
                  </a:extLst>
                </a:gridCol>
                <a:gridCol w="416501">
                  <a:extLst>
                    <a:ext uri="{9D8B030D-6E8A-4147-A177-3AD203B41FA5}">
                      <a16:colId xmlns:a16="http://schemas.microsoft.com/office/drawing/2014/main" val="929014085"/>
                    </a:ext>
                  </a:extLst>
                </a:gridCol>
                <a:gridCol w="416501">
                  <a:extLst>
                    <a:ext uri="{9D8B030D-6E8A-4147-A177-3AD203B41FA5}">
                      <a16:colId xmlns:a16="http://schemas.microsoft.com/office/drawing/2014/main" val="2215318339"/>
                    </a:ext>
                  </a:extLst>
                </a:gridCol>
                <a:gridCol w="416501">
                  <a:extLst>
                    <a:ext uri="{9D8B030D-6E8A-4147-A177-3AD203B41FA5}">
                      <a16:colId xmlns:a16="http://schemas.microsoft.com/office/drawing/2014/main" val="1870777418"/>
                    </a:ext>
                  </a:extLst>
                </a:gridCol>
                <a:gridCol w="416501">
                  <a:extLst>
                    <a:ext uri="{9D8B030D-6E8A-4147-A177-3AD203B41FA5}">
                      <a16:colId xmlns:a16="http://schemas.microsoft.com/office/drawing/2014/main" val="1643805152"/>
                    </a:ext>
                  </a:extLst>
                </a:gridCol>
              </a:tblGrid>
              <a:tr h="269919"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1" i="0" u="none" strike="noStrike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 CRONOGRAMA</a:t>
                      </a:r>
                      <a:r>
                        <a:rPr lang="es-CO" sz="1100" b="0" i="0" u="none" strike="noStrike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s-CO" sz="12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224" marR="50224" marT="1076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318" marR="103318" marT="51659" marB="516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318" marR="103318" marT="51659" marB="516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318" marR="103318" marT="51659" marB="516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318" marR="103318" marT="51659" marB="516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318" marR="103318" marT="51659" marB="516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318" marR="103318" marT="51659" marB="516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501305"/>
                  </a:ext>
                </a:extLst>
              </a:tr>
              <a:tr h="458904"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/ Actividad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Mes 1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Mes 2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Mes 3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Mes 4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Mes 5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Mes 6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375667"/>
                  </a:ext>
                </a:extLst>
              </a:tr>
              <a:tr h="260878"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1. Diagnóstico inicial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B8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834322"/>
                  </a:ext>
                </a:extLst>
              </a:tr>
              <a:tr h="458904"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2. Organización documental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448325"/>
                  </a:ext>
                </a:extLst>
              </a:tr>
              <a:tr h="458904"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3. Digitalización e indexación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A1C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A1C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A1C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A1C7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A1C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A1C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A1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387518"/>
                  </a:ext>
                </a:extLst>
              </a:tr>
              <a:tr h="260878"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4. Evaluación y cierre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59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59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59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59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59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59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62" marR="10762" marT="10762" marB="107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5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178508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1D0C6B6D-33DC-71A5-5D15-0B2C00E50C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76" t="22927" r="24976" b="22927"/>
          <a:stretch/>
        </p:blipFill>
        <p:spPr>
          <a:xfrm>
            <a:off x="11085396" y="83462"/>
            <a:ext cx="923111" cy="9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77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D16BA-F460-BFFE-F1A4-23892EBF1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95399F3-7EDB-ECD8-BB6A-99E252F53CC1}"/>
              </a:ext>
            </a:extLst>
          </p:cNvPr>
          <p:cNvSpPr txBox="1"/>
          <p:nvPr/>
        </p:nvSpPr>
        <p:spPr>
          <a:xfrm>
            <a:off x="389613" y="222637"/>
            <a:ext cx="7471179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12. Resultados esperados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Principales resultados: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Clasificación técnica de la documentación.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Organización de expedientes conforme al </a:t>
            </a:r>
            <a:r>
              <a:rPr lang="es-MX" sz="2800" b="1" dirty="0">
                <a:solidFill>
                  <a:schemeClr val="accent5"/>
                </a:solidFill>
              </a:rPr>
              <a:t>principio de procedencia</a:t>
            </a:r>
            <a:r>
              <a:rPr lang="es-MX" sz="2800" dirty="0">
                <a:solidFill>
                  <a:schemeClr val="accent5"/>
                </a:solidFill>
              </a:rPr>
              <a:t>.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Aplicación de </a:t>
            </a:r>
            <a:r>
              <a:rPr lang="es-MX" sz="2800" b="1" dirty="0">
                <a:solidFill>
                  <a:schemeClr val="accent5"/>
                </a:solidFill>
              </a:rPr>
              <a:t>foliación técnica</a:t>
            </a:r>
            <a:r>
              <a:rPr lang="es-MX" sz="2800" dirty="0">
                <a:solidFill>
                  <a:schemeClr val="accent5"/>
                </a:solidFill>
              </a:rPr>
              <a:t>.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Elaboración y actualización de </a:t>
            </a:r>
            <a:r>
              <a:rPr lang="es-MX" sz="2800" b="1" dirty="0">
                <a:solidFill>
                  <a:schemeClr val="accent5"/>
                </a:solidFill>
              </a:rPr>
              <a:t>inventarios documentales</a:t>
            </a:r>
            <a:r>
              <a:rPr lang="es-MX" sz="2800" dirty="0">
                <a:solidFill>
                  <a:schemeClr val="accent5"/>
                </a:solidFill>
              </a:rPr>
              <a:t>.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Digitalización e indexación de documentos.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Impactos: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Mejor recuperación de la información.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Fortalecimiento de la gestión documental.</a:t>
            </a:r>
          </a:p>
          <a:p>
            <a:r>
              <a:rPr lang="es-MX" sz="2800" dirty="0">
                <a:solidFill>
                  <a:schemeClr val="accent5"/>
                </a:solidFill>
              </a:rPr>
              <a:t>Desarrollo de competencias archivísticas en aprendices.</a:t>
            </a:r>
          </a:p>
        </p:txBody>
      </p:sp>
      <p:pic>
        <p:nvPicPr>
          <p:cNvPr id="9218" name="Picture 2" descr="Lanús - ASÍ SE TRABAJA 💪 La foto lo dice todo. Convertimos el viejo archivo  municipal, en el que era imposible preservar y localizar documentos, en una  oficina digitalizada, con mucho más">
            <a:extLst>
              <a:ext uri="{FF2B5EF4-FFF2-40B4-BE49-F238E27FC236}">
                <a16:creationId xmlns:a16="http://schemas.microsoft.com/office/drawing/2014/main" id="{53730D75-64E0-6C6E-B6C6-7814F001D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792" y="1253870"/>
            <a:ext cx="3806952" cy="368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042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17591-85EB-D26B-1558-73FC0C3C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165109B-7036-4613-93D4-579E77F6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3E8FEA2-54EE-4F84-B5DB-A055A7D80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6707" y="0"/>
            <a:ext cx="7455294" cy="6858000"/>
          </a:xfrm>
          <a:prstGeom prst="rect">
            <a:avLst/>
          </a:prstGeom>
          <a:ln>
            <a:noFill/>
          </a:ln>
          <a:effectLst>
            <a:outerShdw blurRad="317500" dist="228600" dir="798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uadroTexto 3">
            <a:extLst>
              <a:ext uri="{FF2B5EF4-FFF2-40B4-BE49-F238E27FC236}">
                <a16:creationId xmlns:a16="http://schemas.microsoft.com/office/drawing/2014/main" id="{3F516310-644B-5F8F-9BE7-743B7FBC66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5128712"/>
              </p:ext>
            </p:extLst>
          </p:nvPr>
        </p:nvGraphicFramePr>
        <p:xfrm>
          <a:off x="668948" y="619749"/>
          <a:ext cx="9262045" cy="5618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480D221E-AEC5-8408-D82A-396D7D9A7B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4976" t="22927" r="24976" b="22927"/>
          <a:stretch/>
        </p:blipFill>
        <p:spPr>
          <a:xfrm>
            <a:off x="10599941" y="506573"/>
            <a:ext cx="923111" cy="9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61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2B800-22F8-4835-35A3-51562560F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017BDFB-C602-FA75-067F-6D8B69AB06A3}"/>
              </a:ext>
            </a:extLst>
          </p:cNvPr>
          <p:cNvSpPr txBox="1"/>
          <p:nvPr/>
        </p:nvSpPr>
        <p:spPr>
          <a:xfrm>
            <a:off x="389613" y="222637"/>
            <a:ext cx="1162480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14. Conclusiones</a:t>
            </a:r>
          </a:p>
          <a:p>
            <a:endParaRPr lang="es-MX" sz="2800" b="1" dirty="0"/>
          </a:p>
          <a:p>
            <a:endParaRPr lang="es-MX" sz="2800" b="1" dirty="0"/>
          </a:p>
          <a:p>
            <a:endParaRPr lang="es-MX" sz="2800" b="1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62A20BE-F64F-98C3-6AAC-63910F860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41" y="943199"/>
            <a:ext cx="712246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Existen debilidades en entidades territoriales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El proyecto aporta soluciones reales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La gestión documental es estratégica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Integra formación + investigación + impacto social</a:t>
            </a:r>
          </a:p>
        </p:txBody>
      </p:sp>
    </p:spTree>
    <p:extLst>
      <p:ext uri="{BB962C8B-B14F-4D97-AF65-F5344CB8AC3E}">
        <p14:creationId xmlns:p14="http://schemas.microsoft.com/office/powerpoint/2010/main" val="1260346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9C1AE-77BC-11F1-7D14-82C813EDB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398DCAE-3AA6-497B-41AA-E2477EC0E082}"/>
              </a:ext>
            </a:extLst>
          </p:cNvPr>
          <p:cNvSpPr txBox="1"/>
          <p:nvPr/>
        </p:nvSpPr>
        <p:spPr>
          <a:xfrm>
            <a:off x="755373" y="500933"/>
            <a:ext cx="1162480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14. Referencias</a:t>
            </a:r>
          </a:p>
          <a:p>
            <a:endParaRPr lang="es-MX" sz="2800" b="1" dirty="0"/>
          </a:p>
          <a:p>
            <a:endParaRPr lang="es-MX" sz="28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4D56FA7-7528-A1ED-B901-5AA610B29916}"/>
              </a:ext>
            </a:extLst>
          </p:cNvPr>
          <p:cNvSpPr txBox="1"/>
          <p:nvPr/>
        </p:nvSpPr>
        <p:spPr>
          <a:xfrm>
            <a:off x="389613" y="1317397"/>
            <a:ext cx="60946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Ley 594 de 2000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Ley 1712 de 2014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AGN (2024)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ICONTEC (2014)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Schellenberg (1956)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Heredia (1991)</a:t>
            </a:r>
          </a:p>
        </p:txBody>
      </p:sp>
    </p:spTree>
    <p:extLst>
      <p:ext uri="{BB962C8B-B14F-4D97-AF65-F5344CB8AC3E}">
        <p14:creationId xmlns:p14="http://schemas.microsoft.com/office/powerpoint/2010/main" val="511631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ysClr val="window" lastClr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4251</TotalTime>
  <Words>782</Words>
  <Application>Microsoft Office PowerPoint</Application>
  <PresentationFormat>Panorámica</PresentationFormat>
  <Paragraphs>190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WORK SANS SEMIBOLD ROMAN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VALENCIA GONZALES PAIGE YULIANA</cp:lastModifiedBy>
  <cp:revision>79</cp:revision>
  <dcterms:created xsi:type="dcterms:W3CDTF">2020-10-01T23:51:28Z</dcterms:created>
  <dcterms:modified xsi:type="dcterms:W3CDTF">2026-03-18T21:23:40Z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