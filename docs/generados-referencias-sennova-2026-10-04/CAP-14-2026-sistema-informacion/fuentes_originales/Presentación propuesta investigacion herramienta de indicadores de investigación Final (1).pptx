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4"/>
  </p:notesMasterIdLst>
  <p:handoutMasterIdLst>
    <p:handoutMasterId r:id="rId15"/>
  </p:handoutMasterIdLst>
  <p:sldIdLst>
    <p:sldId id="544" r:id="rId2"/>
    <p:sldId id="546" r:id="rId3"/>
    <p:sldId id="543" r:id="rId4"/>
    <p:sldId id="547" r:id="rId5"/>
    <p:sldId id="552" r:id="rId6"/>
    <p:sldId id="545" r:id="rId7"/>
    <p:sldId id="548" r:id="rId8"/>
    <p:sldId id="555" r:id="rId9"/>
    <p:sldId id="532" r:id="rId10"/>
    <p:sldId id="554" r:id="rId11"/>
    <p:sldId id="556" r:id="rId12"/>
    <p:sldId id="53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2387" userDrawn="1">
          <p15:clr>
            <a:srgbClr val="A4A3A4"/>
          </p15:clr>
        </p15:guide>
        <p15:guide id="6" orient="horz" pos="2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C00"/>
    <a:srgbClr val="FFF5EA"/>
    <a:srgbClr val="4D4D4C"/>
    <a:srgbClr val="343433"/>
    <a:srgbClr val="38AA00"/>
    <a:srgbClr val="766363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B51D13-534A-4E84-A248-01C833EF64D8}" v="1432" dt="2026-05-21T02:52:21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/>
    <p:restoredTop sz="97242"/>
  </p:normalViewPr>
  <p:slideViewPr>
    <p:cSldViewPr snapToGrid="0">
      <p:cViewPr varScale="1">
        <p:scale>
          <a:sx n="78" d="100"/>
          <a:sy n="78" d="100"/>
        </p:scale>
        <p:origin x="1325" y="72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97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661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009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134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18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479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0973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23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772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638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9751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147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FCF1B-3E11-3F22-6015-1D39D506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E10E589-B888-5E3E-CA59-27D086F81F4B}"/>
              </a:ext>
            </a:extLst>
          </p:cNvPr>
          <p:cNvSpPr txBox="1"/>
          <p:nvPr/>
        </p:nvSpPr>
        <p:spPr>
          <a:xfrm>
            <a:off x="936778" y="2229278"/>
            <a:ext cx="10318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s-MX" sz="3200" b="1" dirty="0"/>
              <a:t>INVESTIGADORES C.G.A.O (SIADM, SEMINPROVEL)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1EE8E9-258F-5D3D-5407-C96214A312A8}"/>
              </a:ext>
            </a:extLst>
          </p:cNvPr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kumimoji="0" lang="es-CO" sz="10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SEMIBOLD ROMAN" pitchFamily="2" charset="77"/>
                <a:cs typeface="Arial" panose="020B0604020202020204" pitchFamily="34" charset="0"/>
              </a:rPr>
              <a:t>Clasificación de la información: </a:t>
            </a: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Pública</a:t>
            </a:r>
            <a:endParaRPr kumimoji="0" lang="es-CO" sz="10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SEMIBOLD ROMAN" pitchFamily="2" charset="77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F66724A-1034-49FE-977F-368EAEB61A65}"/>
              </a:ext>
            </a:extLst>
          </p:cNvPr>
          <p:cNvSpPr/>
          <p:nvPr/>
        </p:nvSpPr>
        <p:spPr>
          <a:xfrm>
            <a:off x="748703" y="748703"/>
            <a:ext cx="10684365" cy="96963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4E74E67-5DA0-D842-19A5-A58C5A6DD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411891" y="779139"/>
            <a:ext cx="923111" cy="908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8111EE9-D4CC-4791-B61A-B1C299960D88}"/>
              </a:ext>
            </a:extLst>
          </p:cNvPr>
          <p:cNvSpPr txBox="1"/>
          <p:nvPr/>
        </p:nvSpPr>
        <p:spPr>
          <a:xfrm>
            <a:off x="936778" y="1041455"/>
            <a:ext cx="3273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defRPr/>
            </a:pPr>
            <a:r>
              <a:rPr lang="es-MX" sz="2400" b="1" dirty="0">
                <a:solidFill>
                  <a:schemeClr val="bg1"/>
                </a:solidFill>
              </a:rPr>
              <a:t>Programa de formación: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A5E2F31D-C020-E0F5-67A8-6179068EC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5416" y="3657917"/>
            <a:ext cx="608647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23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C34FF-89E7-47C7-3A37-78FFB8A6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571B4D7-6708-9B31-F5CA-A52CA40E48E4}"/>
              </a:ext>
            </a:extLst>
          </p:cNvPr>
          <p:cNvSpPr txBox="1"/>
          <p:nvPr/>
        </p:nvSpPr>
        <p:spPr>
          <a:xfrm>
            <a:off x="871072" y="2202426"/>
            <a:ext cx="436350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>
              <a:buFont typeface="Arial" panose="020B0604020202020204" pitchFamily="34" charset="0"/>
              <a:buChar char="•"/>
              <a:defRPr/>
            </a:pPr>
            <a:r>
              <a:rPr lang="es-MX" sz="2200" b="1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SEMIBOLD ROMAN"/>
                <a:ea typeface="Aptos" pitchFamily="34" charset="-122"/>
                <a:cs typeface="Aptos" pitchFamily="34" charset="-120"/>
                <a:sym typeface="+mn-ea"/>
              </a:rPr>
              <a:t>Miguel Ángel Tejedor Mendoza</a:t>
            </a:r>
            <a:endParaRPr kumimoji="0" lang="es-ES" sz="2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85000"/>
                  <a:lumOff val="15000"/>
                </a:schemeClr>
              </a:solidFill>
              <a:effectLst/>
              <a:uLnTx/>
              <a:uFillTx/>
              <a:latin typeface="WORK SANS SEMIBOLD ROMAN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SEMIBOLD ROMAN"/>
            </a:endParaRPr>
          </a:p>
          <a:p>
            <a:pPr marL="342900" indent="-342900" defTabSz="914400">
              <a:buFont typeface="Arial" panose="020B0604020202020204" pitchFamily="34" charset="0"/>
              <a:buChar char="•"/>
              <a:defRPr/>
            </a:pPr>
            <a:r>
              <a:rPr lang="es-MX" sz="2200" b="1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SEMIBOLD ROMAN"/>
                <a:ea typeface="Aptos" pitchFamily="34" charset="-122"/>
                <a:cs typeface="Aptos" pitchFamily="34" charset="-120"/>
                <a:sym typeface="+mn-ea"/>
              </a:rPr>
              <a:t>Carlos Augusto Ariza Santamaria</a:t>
            </a:r>
            <a:endParaRPr lang="es-ES" sz="2200" b="1" dirty="0">
              <a:solidFill>
                <a:schemeClr val="accent5">
                  <a:lumMod val="85000"/>
                  <a:lumOff val="15000"/>
                </a:schemeClr>
              </a:solidFill>
              <a:latin typeface="WORK SANS SEMIBOLD ROMAN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ES" sz="2200" b="1" dirty="0">
              <a:solidFill>
                <a:schemeClr val="accent5">
                  <a:lumMod val="85000"/>
                  <a:lumOff val="15000"/>
                </a:schemeClr>
              </a:solidFill>
              <a:latin typeface="WORK SANS SEMIBOLD ROMAN"/>
            </a:endParaRPr>
          </a:p>
          <a:p>
            <a:pPr marL="342900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en-US" sz="2200" b="1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SEMIBOLD ROMAN"/>
                <a:ea typeface="Aptos" pitchFamily="34" charset="-122"/>
                <a:cs typeface="Aptos" pitchFamily="34" charset="-120"/>
                <a:sym typeface="+mn-ea"/>
              </a:rPr>
              <a:t>Alba Zoraida Vargas</a:t>
            </a:r>
            <a:endParaRPr lang="es-ES" sz="2200" b="1" dirty="0">
              <a:solidFill>
                <a:schemeClr val="accent5">
                  <a:lumMod val="85000"/>
                  <a:lumOff val="15000"/>
                </a:schemeClr>
              </a:solidFill>
              <a:latin typeface="WORK SANS SEMIBOLD ROMAN"/>
            </a:endParaRPr>
          </a:p>
          <a:p>
            <a:pPr marL="342900" lvl="0" indent="-342900" defTabSz="914400">
              <a:buFont typeface="Arial" panose="020B0604020202020204" pitchFamily="34" charset="0"/>
              <a:buChar char="•"/>
              <a:defRPr/>
            </a:pPr>
            <a:endParaRPr kumimoji="0" lang="es-E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  <a:p>
            <a:pPr marL="342900" lvl="0" indent="-342900" defTabSz="914400">
              <a:buFont typeface="Arial" panose="020B0604020202020204" pitchFamily="34" charset="0"/>
              <a:buChar char="•"/>
              <a:defRPr/>
            </a:pPr>
            <a:r>
              <a:rPr lang="es-ES" sz="2200" b="1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Bold Roman" pitchFamily="2" charset="77"/>
              </a:rPr>
              <a:t>Fredy Zafra</a:t>
            </a:r>
            <a:endParaRPr kumimoji="0" lang="es-ES" sz="2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85000"/>
                  <a:lumOff val="15000"/>
                </a:scheme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02C029-25AE-EAC0-B2FF-C2F8E61FB8C5}"/>
              </a:ext>
            </a:extLst>
          </p:cNvPr>
          <p:cNvSpPr txBox="1"/>
          <p:nvPr/>
        </p:nvSpPr>
        <p:spPr>
          <a:xfrm>
            <a:off x="391886" y="296863"/>
            <a:ext cx="317029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Clasificación de la información: Pública reservada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C16FD9B-FBEF-4898-B960-41C74F4CAC56}"/>
              </a:ext>
            </a:extLst>
          </p:cNvPr>
          <p:cNvSpPr/>
          <p:nvPr/>
        </p:nvSpPr>
        <p:spPr>
          <a:xfrm>
            <a:off x="753817" y="779139"/>
            <a:ext cx="10684365" cy="96963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1364D8E-78B6-07F8-68E4-61B3214D3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446912" y="809575"/>
            <a:ext cx="923111" cy="9087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FA6807C-8B59-479C-8354-14E270E396DF}"/>
              </a:ext>
            </a:extLst>
          </p:cNvPr>
          <p:cNvSpPr txBox="1"/>
          <p:nvPr/>
        </p:nvSpPr>
        <p:spPr>
          <a:xfrm>
            <a:off x="871072" y="1002686"/>
            <a:ext cx="8162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Autores - Instructores equipo ejecutor competencias técnicas: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53F9EA1C-B2E1-0CFE-2388-BB90D90F16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0437" y="2662237"/>
            <a:ext cx="6629714" cy="200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1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08785-A3E1-7BD1-5FAC-FD636F797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4AC9A7D5-843B-D2FE-7BC0-B51542BB82DD}"/>
              </a:ext>
            </a:extLst>
          </p:cNvPr>
          <p:cNvSpPr txBox="1"/>
          <p:nvPr/>
        </p:nvSpPr>
        <p:spPr>
          <a:xfrm>
            <a:off x="447040" y="1113633"/>
            <a:ext cx="10993120" cy="30885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47625" algn="just">
              <a:lnSpc>
                <a:spcPct val="115000"/>
              </a:lnSpc>
            </a:pPr>
            <a:r>
              <a:rPr lang="es-ES" sz="1800" dirty="0">
                <a:effectLst/>
                <a:ea typeface="Arial MT"/>
                <a:cs typeface="Arial MT"/>
              </a:rPr>
              <a:t> </a:t>
            </a:r>
            <a:endParaRPr lang="es-CO" sz="1800" dirty="0">
              <a:effectLst/>
              <a:ea typeface="Arial MT"/>
              <a:cs typeface="Arial MT"/>
            </a:endParaRPr>
          </a:p>
          <a:p>
            <a:pPr algn="just"/>
            <a:r>
              <a:rPr lang="es-CO" dirty="0">
                <a:solidFill>
                  <a:schemeClr val="accent5"/>
                </a:solidFill>
              </a:rPr>
              <a:t>La gestión de proyectos de investigación en los centros de formación requiere procesos organizados, eficientes y accesibles que permitan realizar seguimiento oportuno a las diferentes etapas, productos y evidencias asociadas a cada proyecto. Actualmente, muchos de estos procesos se desarrollan de manera manual o mediante herramientas dispersas, generando dificultades en el control de la información, seguimiento de actividades y consolidación de resultados investigativos.</a:t>
            </a:r>
          </a:p>
          <a:p>
            <a:pPr algn="just"/>
            <a:endParaRPr lang="es-CO" dirty="0">
              <a:solidFill>
                <a:schemeClr val="accent5"/>
              </a:solidFill>
            </a:endParaRPr>
          </a:p>
          <a:p>
            <a:pPr algn="just"/>
            <a:r>
              <a:rPr lang="es-CO" dirty="0">
                <a:solidFill>
                  <a:schemeClr val="accent5"/>
                </a:solidFill>
              </a:rPr>
              <a:t>Este proyecto propone el diseño y desarrollo de un sistema de información para la gestión de proyectos de investigación del Centro de Gestión Agroempresarial del Oriente (CGAO), con el propósito de fortalecer los procesos administrativos e investigativos mediante una plataforma tecnológica que facilite el registro, seguimiento, control y consulta de la información relacionada con proyectos, investigadores, productos y cronogramas..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45FC468-07E6-4BF1-859A-EE301A593FB1}"/>
              </a:ext>
            </a:extLst>
          </p:cNvPr>
          <p:cNvSpPr/>
          <p:nvPr/>
        </p:nvSpPr>
        <p:spPr>
          <a:xfrm>
            <a:off x="0" y="0"/>
            <a:ext cx="10684365" cy="96963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95DE264-F11F-E77A-ABBA-446E46EF798C}"/>
              </a:ext>
            </a:extLst>
          </p:cNvPr>
          <p:cNvSpPr txBox="1">
            <a:spLocks/>
          </p:cNvSpPr>
          <p:nvPr/>
        </p:nvSpPr>
        <p:spPr>
          <a:xfrm>
            <a:off x="319119" y="282017"/>
            <a:ext cx="2720619" cy="40559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chemeClr val="bg1"/>
                </a:solidFill>
                <a:latin typeface="WORK SANS BOLD ROMAN" pitchFamily="2" charset="77"/>
              </a:rPr>
              <a:t>Introducción</a:t>
            </a:r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C275D99C-9F58-2AA5-C336-C1A409C85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5761" y="4346171"/>
            <a:ext cx="608647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24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08785-A3E1-7BD1-5FAC-FD636F797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01DF2E4-38A0-4040-A744-7D21FC49B33C}"/>
              </a:ext>
            </a:extLst>
          </p:cNvPr>
          <p:cNvSpPr txBox="1"/>
          <p:nvPr/>
        </p:nvSpPr>
        <p:spPr>
          <a:xfrm>
            <a:off x="3836761" y="1939044"/>
            <a:ext cx="7238676" cy="14157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s-CO" sz="2000" b="1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Planteamiento del problema:</a:t>
            </a:r>
          </a:p>
          <a:p>
            <a:pPr algn="just"/>
            <a:r>
              <a:rPr lang="es-CO" dirty="0">
                <a:solidFill>
                  <a:schemeClr val="accent5"/>
                </a:solidFill>
              </a:rPr>
              <a:t>Falta de un sistema de información centralizado que permita administrar eficientemente la información relacionada con los proyectos  de investigación del C.G.A.O, facilitando la organización, almacenamiento, consulta y seguimiento de la información en tiempo real.</a:t>
            </a:r>
            <a:endParaRPr lang="es-CO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AEA3F65-0E76-4884-9781-81C580D041DE}"/>
              </a:ext>
            </a:extLst>
          </p:cNvPr>
          <p:cNvSpPr/>
          <p:nvPr/>
        </p:nvSpPr>
        <p:spPr>
          <a:xfrm>
            <a:off x="0" y="0"/>
            <a:ext cx="10684365" cy="96963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95DE264-F11F-E77A-ABBA-446E46EF798C}"/>
              </a:ext>
            </a:extLst>
          </p:cNvPr>
          <p:cNvSpPr txBox="1">
            <a:spLocks/>
          </p:cNvSpPr>
          <p:nvPr/>
        </p:nvSpPr>
        <p:spPr>
          <a:xfrm>
            <a:off x="336777" y="251443"/>
            <a:ext cx="9172098" cy="46674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chemeClr val="bg1"/>
                </a:solidFill>
                <a:latin typeface="WORK SANS BOLD ROMAN" pitchFamily="2" charset="77"/>
              </a:rPr>
              <a:t>Problemática y definición de la situación actual: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5F8EBEF-8798-4472-9D6C-E73A4B1ED7BF}"/>
              </a:ext>
            </a:extLst>
          </p:cNvPr>
          <p:cNvSpPr txBox="1"/>
          <p:nvPr/>
        </p:nvSpPr>
        <p:spPr>
          <a:xfrm>
            <a:off x="1573160" y="4404411"/>
            <a:ext cx="9726211" cy="14619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47625" lvl="0" algn="just">
              <a:lnSpc>
                <a:spcPct val="115000"/>
              </a:lnSpc>
            </a:pPr>
            <a:r>
              <a:rPr lang="es-CO" sz="2000" b="1" dirty="0">
                <a:solidFill>
                  <a:srgbClr val="000000"/>
                </a:solidFill>
                <a:ea typeface="Arial MT"/>
                <a:cs typeface="Arial MT"/>
              </a:rPr>
              <a:t>Situación actual:</a:t>
            </a:r>
          </a:p>
          <a:p>
            <a:r>
              <a:rPr lang="es-CO" dirty="0">
                <a:solidFill>
                  <a:schemeClr val="accent5"/>
                </a:solidFill>
              </a:rPr>
              <a:t>La gestión manual o dispersa de documentos y evidencias dificulta el seguimiento de avances, el control de cronogramas, la consolidación de productos de investigación y la generación de reportes para procesos institucionales y de </a:t>
            </a:r>
            <a:r>
              <a:rPr lang="es-CO" dirty="0" err="1">
                <a:solidFill>
                  <a:schemeClr val="accent5"/>
                </a:solidFill>
              </a:rPr>
              <a:t>Minciencias</a:t>
            </a:r>
            <a:r>
              <a:rPr lang="es-CO" dirty="0">
                <a:solidFill>
                  <a:schemeClr val="accent5"/>
                </a:solidFill>
              </a:rPr>
              <a:t>. Esto genera pérdida de tiempo, duplicidad de información, dificultades de comunicación y limitaciones en la trazabilidad de los proyectos.</a:t>
            </a:r>
          </a:p>
        </p:txBody>
      </p:sp>
      <p:pic>
        <p:nvPicPr>
          <p:cNvPr id="2" name="Imagen 1" descr="Imágenes de Archivos dispersos - Descarga gratuita en Freepik">
            <a:extLst>
              <a:ext uri="{FF2B5EF4-FFF2-40B4-BE49-F238E27FC236}">
                <a16:creationId xmlns:a16="http://schemas.microsoft.com/office/drawing/2014/main" id="{F00DEFA1-DAE3-1C86-978F-2698ACECB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7" y="1503997"/>
            <a:ext cx="2648970" cy="264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0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1877A-FF77-AA44-73A3-4677C635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7A293D6-92FF-D3DE-EF31-FC376C2675A3}"/>
              </a:ext>
            </a:extLst>
          </p:cNvPr>
          <p:cNvSpPr txBox="1"/>
          <p:nvPr/>
        </p:nvSpPr>
        <p:spPr>
          <a:xfrm>
            <a:off x="358649" y="1665541"/>
            <a:ext cx="68452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dirty="0">
                <a:solidFill>
                  <a:schemeClr val="accent5"/>
                </a:solidFill>
              </a:rPr>
              <a:t>El desarrollo de un sistema de información para la gestión de proyectos de investigación del CGAO permitirá fortalecer los procesos investigativos y administrativos del centro de formación, contribuyendo a una mejor organización y control de la información.</a:t>
            </a:r>
          </a:p>
          <a:p>
            <a:pPr algn="just"/>
            <a:endParaRPr lang="es-CO" dirty="0">
              <a:solidFill>
                <a:schemeClr val="accent5"/>
              </a:solidFill>
            </a:endParaRPr>
          </a:p>
          <a:p>
            <a:pPr algn="just"/>
            <a:r>
              <a:rPr lang="es-CO" dirty="0">
                <a:solidFill>
                  <a:schemeClr val="accent5"/>
                </a:solidFill>
              </a:rPr>
              <a:t>La implementación de esta herramienta tecnológica facilitará el seguimiento de actividades, productos y cronogramas, mejorando la eficiencia operativa y reduciendo errores asociados al manejo manual de datos. Asimismo, permitirá centralizar la información de los proyectos, facilitando la toma de decisiones, la generación de reportes y el cumplimiento de requisitos institucionales y de </a:t>
            </a:r>
            <a:r>
              <a:rPr lang="es-CO" dirty="0" err="1">
                <a:solidFill>
                  <a:schemeClr val="accent5"/>
                </a:solidFill>
              </a:rPr>
              <a:t>Minciencias</a:t>
            </a:r>
            <a:r>
              <a:rPr lang="es-CO" dirty="0">
                <a:solidFill>
                  <a:schemeClr val="accent5"/>
                </a:solidFill>
              </a:rPr>
              <a:t>.</a:t>
            </a:r>
          </a:p>
          <a:p>
            <a:pPr algn="just"/>
            <a:endParaRPr lang="es-CO" dirty="0">
              <a:solidFill>
                <a:schemeClr val="accent5"/>
              </a:solidFill>
            </a:endParaRPr>
          </a:p>
          <a:p>
            <a:pPr algn="just"/>
            <a:r>
              <a:rPr lang="es-CO" dirty="0">
                <a:solidFill>
                  <a:schemeClr val="accent5"/>
                </a:solidFill>
              </a:rPr>
              <a:t>El proyecto también contribuirá al fortalecimiento de las competencias tecnológicas e investigativas de los aprendices participantes, promoviendo la innovación y transformación digital dentro del CGAO.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F64CACF-9222-4324-AB24-A116888F2BDB}"/>
              </a:ext>
            </a:extLst>
          </p:cNvPr>
          <p:cNvSpPr/>
          <p:nvPr/>
        </p:nvSpPr>
        <p:spPr>
          <a:xfrm>
            <a:off x="0" y="0"/>
            <a:ext cx="10684365" cy="96963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DDF668-0202-2032-8252-12CD049D15B4}"/>
              </a:ext>
            </a:extLst>
          </p:cNvPr>
          <p:cNvSpPr txBox="1">
            <a:spLocks/>
          </p:cNvSpPr>
          <p:nvPr/>
        </p:nvSpPr>
        <p:spPr>
          <a:xfrm>
            <a:off x="430587" y="290572"/>
            <a:ext cx="2399571" cy="38848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chemeClr val="bg1"/>
                </a:solidFill>
                <a:latin typeface="WORK SANS BOLD ROMAN" pitchFamily="2" charset="77"/>
              </a:rPr>
              <a:t>Justificación</a:t>
            </a:r>
          </a:p>
        </p:txBody>
      </p:sp>
      <p:pic>
        <p:nvPicPr>
          <p:cNvPr id="2" name="Imagen 1" descr="Papeles sueltos: Justificación">
            <a:extLst>
              <a:ext uri="{FF2B5EF4-FFF2-40B4-BE49-F238E27FC236}">
                <a16:creationId xmlns:a16="http://schemas.microsoft.com/office/drawing/2014/main" id="{E4AAE6F2-B2E3-60B4-BC31-8F736A1FC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597" y="1849437"/>
            <a:ext cx="3718243" cy="371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5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CD966-F813-E10E-96CE-F7706541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766009E-00F7-0436-FC93-CC43F2F34680}"/>
              </a:ext>
            </a:extLst>
          </p:cNvPr>
          <p:cNvSpPr txBox="1"/>
          <p:nvPr/>
        </p:nvSpPr>
        <p:spPr>
          <a:xfrm>
            <a:off x="391886" y="296863"/>
            <a:ext cx="32021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Clasificación de la información: Pública clasificada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36A2D9-66F9-7F50-D3E8-13025484D3C8}"/>
              </a:ext>
            </a:extLst>
          </p:cNvPr>
          <p:cNvSpPr txBox="1"/>
          <p:nvPr/>
        </p:nvSpPr>
        <p:spPr>
          <a:xfrm>
            <a:off x="1031632" y="2397948"/>
            <a:ext cx="10128733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>
                <a:solidFill>
                  <a:srgbClr val="000000"/>
                </a:solidFill>
                <a:latin typeface="Arial, sans-serif"/>
              </a:rPr>
              <a:t>Sistema de información para la gestión de proyectos de investigación del CGAO</a:t>
            </a:r>
            <a:endParaRPr lang="es-CO" sz="3200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  <a:buSzPts val="5400"/>
            </a:pPr>
            <a:r>
              <a:rPr lang="es-ES" sz="5400" b="1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lang="es-ES" sz="4000" b="1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8DEDB70-384C-4DA4-9EA5-3DF067AE2D8F}"/>
              </a:ext>
            </a:extLst>
          </p:cNvPr>
          <p:cNvSpPr/>
          <p:nvPr/>
        </p:nvSpPr>
        <p:spPr>
          <a:xfrm>
            <a:off x="753817" y="730237"/>
            <a:ext cx="10684365" cy="96963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F682174-DD10-3D1D-BFD5-478085004C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455704" y="751706"/>
            <a:ext cx="923111" cy="9087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3064AD4-CE8A-BE9F-B04F-7FDED9549468}"/>
              </a:ext>
            </a:extLst>
          </p:cNvPr>
          <p:cNvSpPr txBox="1"/>
          <p:nvPr/>
        </p:nvSpPr>
        <p:spPr>
          <a:xfrm>
            <a:off x="1073655" y="891887"/>
            <a:ext cx="3788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b="1" dirty="0">
                <a:solidFill>
                  <a:schemeClr val="bg1"/>
                </a:solidFill>
                <a:latin typeface="WORK SANS BOLD ROMAN" pitchFamily="2" charset="77"/>
              </a:rPr>
              <a:t>Titulo del Proyecto</a:t>
            </a:r>
            <a:endParaRPr lang="es-CO" sz="3600" b="1" dirty="0">
              <a:solidFill>
                <a:schemeClr val="bg1"/>
              </a:solidFill>
              <a:latin typeface="WORK SANS BOLD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4557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08785-A3E1-7BD1-5FAC-FD636F797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4AC9A7D5-843B-D2FE-7BC0-B51542BB82DD}"/>
              </a:ext>
            </a:extLst>
          </p:cNvPr>
          <p:cNvSpPr txBox="1"/>
          <p:nvPr/>
        </p:nvSpPr>
        <p:spPr>
          <a:xfrm>
            <a:off x="983978" y="2478996"/>
            <a:ext cx="5112022" cy="19000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s-CO" sz="2400" b="1" dirty="0">
                <a:solidFill>
                  <a:schemeClr val="bg2">
                    <a:lumMod val="10000"/>
                  </a:schemeClr>
                </a:solidFill>
              </a:rPr>
              <a:t>Objetivo General:</a:t>
            </a:r>
          </a:p>
          <a:p>
            <a:pPr algn="just"/>
            <a:endParaRPr lang="es-CO" dirty="0">
              <a:solidFill>
                <a:schemeClr val="bg2">
                  <a:lumMod val="10000"/>
                </a:schemeClr>
              </a:solidFill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s-CO" dirty="0">
                <a:solidFill>
                  <a:srgbClr val="000000"/>
                </a:solidFill>
                <a:latin typeface="Arial, sans-serif"/>
              </a:rPr>
              <a:t>Desarrollar un sistema de información que permita gestionar de manera eficiente los proyectos de investigación del Centro de Gestión Agroempresarial del Oriente (CGAO).</a:t>
            </a:r>
            <a:endParaRPr lang="es-CO" dirty="0">
              <a:solidFill>
                <a:srgbClr val="00000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A296F6D-8E6C-485F-B054-F1DB40BF5315}"/>
              </a:ext>
            </a:extLst>
          </p:cNvPr>
          <p:cNvSpPr/>
          <p:nvPr/>
        </p:nvSpPr>
        <p:spPr>
          <a:xfrm>
            <a:off x="0" y="0"/>
            <a:ext cx="10684365" cy="96963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95DE264-F11F-E77A-ABBA-446E46EF798C}"/>
              </a:ext>
            </a:extLst>
          </p:cNvPr>
          <p:cNvSpPr txBox="1">
            <a:spLocks/>
          </p:cNvSpPr>
          <p:nvPr/>
        </p:nvSpPr>
        <p:spPr>
          <a:xfrm>
            <a:off x="426938" y="255669"/>
            <a:ext cx="1895295" cy="458293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chemeClr val="bg1"/>
                </a:solidFill>
                <a:latin typeface="+mn-lt"/>
              </a:rPr>
              <a:t>Objetivos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6A50A6A-73C1-5CF1-AA8B-BA848C48C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531564"/>
              </p:ext>
            </p:extLst>
          </p:nvPr>
        </p:nvGraphicFramePr>
        <p:xfrm>
          <a:off x="838200" y="1825625"/>
          <a:ext cx="10515600" cy="2743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85869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s-CO" dirty="0">
                        <a:effectLst/>
                      </a:endParaRPr>
                    </a:p>
                  </a:txBody>
                  <a:tcPr marL="89535" marR="895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944860"/>
                  </a:ext>
                </a:extLst>
              </a:tr>
            </a:tbl>
          </a:graphicData>
        </a:graphic>
      </p:graphicFrame>
      <p:pic>
        <p:nvPicPr>
          <p:cNvPr id="3" name="Imagen 2" descr="Sistemas de información - Qué son, sus tipos y ejemplos">
            <a:extLst>
              <a:ext uri="{FF2B5EF4-FFF2-40B4-BE49-F238E27FC236}">
                <a16:creationId xmlns:a16="http://schemas.microsoft.com/office/drawing/2014/main" id="{B405479B-C7BF-CC2C-0375-57393A69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282" y="2955937"/>
            <a:ext cx="4686300" cy="243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7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15E35-15ED-2C39-D678-2D3C3CC7F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6C8F0A8C-F129-3A81-B451-B4640784BDE6}"/>
              </a:ext>
            </a:extLst>
          </p:cNvPr>
          <p:cNvSpPr/>
          <p:nvPr/>
        </p:nvSpPr>
        <p:spPr>
          <a:xfrm>
            <a:off x="0" y="0"/>
            <a:ext cx="10684365" cy="96963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50F0575-7CF3-1152-7B17-6311DD241541}"/>
              </a:ext>
            </a:extLst>
          </p:cNvPr>
          <p:cNvSpPr txBox="1">
            <a:spLocks/>
          </p:cNvSpPr>
          <p:nvPr/>
        </p:nvSpPr>
        <p:spPr>
          <a:xfrm>
            <a:off x="426938" y="255669"/>
            <a:ext cx="1895295" cy="458293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chemeClr val="bg1"/>
                </a:solidFill>
                <a:latin typeface="+mn-lt"/>
              </a:rPr>
              <a:t>Objetivos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9BD166C-3A95-9734-3616-0A9C7958BCC9}"/>
              </a:ext>
            </a:extLst>
          </p:cNvPr>
          <p:cNvSpPr txBox="1"/>
          <p:nvPr/>
        </p:nvSpPr>
        <p:spPr>
          <a:xfrm>
            <a:off x="969249" y="1401819"/>
            <a:ext cx="10253501" cy="44501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s-CO" sz="2400" b="1" dirty="0">
                <a:solidFill>
                  <a:schemeClr val="bg2">
                    <a:lumMod val="10000"/>
                  </a:schemeClr>
                </a:solidFill>
              </a:rPr>
              <a:t>Objetivos Específicos:</a:t>
            </a:r>
          </a:p>
          <a:p>
            <a:pPr algn="just"/>
            <a:endParaRPr lang="es-CO" b="1" dirty="0">
              <a:solidFill>
                <a:schemeClr val="bg2">
                  <a:lumMod val="10000"/>
                </a:schemeClr>
              </a:solidFill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s-CO" dirty="0">
                <a:solidFill>
                  <a:srgbClr val="000000"/>
                </a:solidFill>
                <a:latin typeface="Arial, sans-serif"/>
              </a:rPr>
              <a:t>Identificar las necesidades y requerimientos del proceso de gestión de proyectos de investigación del CGAO.</a:t>
            </a: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s-CO" dirty="0">
                <a:solidFill>
                  <a:srgbClr val="000000"/>
                </a:solidFill>
                <a:latin typeface="Arial, sans-serif"/>
              </a:rPr>
              <a:t>Diseñar una herramienta en Excel para el seguimiento y análisis de indicadores asociados a la clasificación </a:t>
            </a:r>
            <a:r>
              <a:rPr lang="es-CO" dirty="0" err="1">
                <a:solidFill>
                  <a:srgbClr val="000000"/>
                </a:solidFill>
                <a:latin typeface="Arial, sans-serif"/>
              </a:rPr>
              <a:t>Minciencias</a:t>
            </a:r>
            <a:r>
              <a:rPr lang="es-CO" dirty="0">
                <a:solidFill>
                  <a:srgbClr val="000000"/>
                </a:solidFill>
                <a:latin typeface="Arial, sans-serif"/>
              </a:rPr>
              <a:t> del grupo de Investigadores CGAO. </a:t>
            </a: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s-CO" dirty="0">
                <a:solidFill>
                  <a:srgbClr val="000000"/>
                </a:solidFill>
                <a:latin typeface="Arial, sans-serif"/>
              </a:rPr>
              <a:t>Diseñar la estructura funcional y base de datos del sistema de información.</a:t>
            </a: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s-CO" dirty="0">
                <a:solidFill>
                  <a:srgbClr val="000000"/>
                </a:solidFill>
                <a:latin typeface="Arial, sans-serif"/>
              </a:rPr>
              <a:t>Desarrollar módulos para el registro, seguimiento y control de proyectos, cronogramas y productos de investigación.</a:t>
            </a: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s-CO" dirty="0">
                <a:solidFill>
                  <a:srgbClr val="000000"/>
                </a:solidFill>
                <a:latin typeface="Arial, sans-serif"/>
              </a:rPr>
              <a:t>Implementar herramientas de consulta y generación de reportes para facilitar la gestión investigativa.</a:t>
            </a: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s-CO" dirty="0">
                <a:solidFill>
                  <a:srgbClr val="000000"/>
                </a:solidFill>
                <a:latin typeface="Arial, sans-serif"/>
              </a:rPr>
              <a:t>Validar el funcionamiento del sistema mediante pruebas con usuarios del proceso investigativo</a:t>
            </a:r>
            <a:endParaRPr lang="es-CO" dirty="0">
              <a:solidFill>
                <a:srgbClr val="000000"/>
              </a:solidFill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s-CO" dirty="0">
              <a:solidFill>
                <a:srgbClr val="000000"/>
              </a:solidFill>
            </a:endParaRPr>
          </a:p>
          <a:p>
            <a:pPr marL="285750" indent="-28575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endParaRPr lang="es-CO" dirty="0">
              <a:solidFill>
                <a:srgbClr val="000000"/>
              </a:solidFill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19D9923C-03F5-2363-7EF2-B551CD9EB17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10515600" cy="2743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85869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s-CO" dirty="0">
                        <a:effectLst/>
                      </a:endParaRPr>
                    </a:p>
                  </a:txBody>
                  <a:tcPr marL="89535" marR="895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944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33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695326" y="416690"/>
            <a:ext cx="2699628" cy="52787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</a:rPr>
              <a:t>Metodología</a:t>
            </a:r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B07F9505-28A4-4B8F-B56F-5F47CB02050D}"/>
              </a:ext>
            </a:extLst>
          </p:cNvPr>
          <p:cNvSpPr/>
          <p:nvPr/>
        </p:nvSpPr>
        <p:spPr>
          <a:xfrm>
            <a:off x="4412104" y="1605151"/>
            <a:ext cx="7561909" cy="515811"/>
          </a:xfrm>
          <a:custGeom>
            <a:avLst/>
            <a:gdLst>
              <a:gd name="connsiteX0" fmla="*/ 165738 w 994409"/>
              <a:gd name="connsiteY0" fmla="*/ 0 h 7561908"/>
              <a:gd name="connsiteX1" fmla="*/ 828671 w 994409"/>
              <a:gd name="connsiteY1" fmla="*/ 0 h 7561908"/>
              <a:gd name="connsiteX2" fmla="*/ 994409 w 994409"/>
              <a:gd name="connsiteY2" fmla="*/ 165738 h 7561908"/>
              <a:gd name="connsiteX3" fmla="*/ 994409 w 994409"/>
              <a:gd name="connsiteY3" fmla="*/ 7561908 h 7561908"/>
              <a:gd name="connsiteX4" fmla="*/ 994409 w 994409"/>
              <a:gd name="connsiteY4" fmla="*/ 7561908 h 7561908"/>
              <a:gd name="connsiteX5" fmla="*/ 0 w 994409"/>
              <a:gd name="connsiteY5" fmla="*/ 7561908 h 7561908"/>
              <a:gd name="connsiteX6" fmla="*/ 0 w 994409"/>
              <a:gd name="connsiteY6" fmla="*/ 7561908 h 7561908"/>
              <a:gd name="connsiteX7" fmla="*/ 0 w 994409"/>
              <a:gd name="connsiteY7" fmla="*/ 165738 h 7561908"/>
              <a:gd name="connsiteX8" fmla="*/ 165738 w 994409"/>
              <a:gd name="connsiteY8" fmla="*/ 0 h 7561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4409" h="7561908">
                <a:moveTo>
                  <a:pt x="994409" y="1260345"/>
                </a:moveTo>
                <a:lnTo>
                  <a:pt x="994409" y="6301563"/>
                </a:lnTo>
                <a:cubicBezTo>
                  <a:pt x="994409" y="6997634"/>
                  <a:pt x="984651" y="7561904"/>
                  <a:pt x="972614" y="7561904"/>
                </a:cubicBezTo>
                <a:lnTo>
                  <a:pt x="0" y="7561904"/>
                </a:lnTo>
                <a:lnTo>
                  <a:pt x="0" y="7561904"/>
                </a:lnTo>
                <a:lnTo>
                  <a:pt x="0" y="4"/>
                </a:lnTo>
                <a:lnTo>
                  <a:pt x="0" y="4"/>
                </a:lnTo>
                <a:lnTo>
                  <a:pt x="972614" y="4"/>
                </a:lnTo>
                <a:cubicBezTo>
                  <a:pt x="984651" y="4"/>
                  <a:pt x="994409" y="564274"/>
                  <a:pt x="994409" y="1260345"/>
                </a:cubicBez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1" tIns="101883" rIns="155223" bIns="101884" numCol="1" spcCol="1270" anchor="ctr" anchorCtr="0">
            <a:noAutofit/>
          </a:bodyPr>
          <a:lstStyle/>
          <a:p>
            <a:pPr marL="285750" lvl="1" indent="-285750" algn="just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MX" sz="1600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 Levantamiento de información y análisis de requerimientos mediante entrevistas y observación de los procesos actuales de gestión investigativa del CGAO.</a:t>
            </a:r>
            <a:endParaRPr lang="es-CO" sz="1600" b="0" kern="1200" dirty="0">
              <a:solidFill>
                <a:schemeClr val="accent5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A6C04E34-D05A-4902-93FD-A8615C069673}"/>
              </a:ext>
            </a:extLst>
          </p:cNvPr>
          <p:cNvSpPr/>
          <p:nvPr/>
        </p:nvSpPr>
        <p:spPr>
          <a:xfrm>
            <a:off x="188255" y="1574840"/>
            <a:ext cx="4253573" cy="555520"/>
          </a:xfrm>
          <a:custGeom>
            <a:avLst/>
            <a:gdLst>
              <a:gd name="connsiteX0" fmla="*/ 0 w 4253573"/>
              <a:gd name="connsiteY0" fmla="*/ 207173 h 1243012"/>
              <a:gd name="connsiteX1" fmla="*/ 207173 w 4253573"/>
              <a:gd name="connsiteY1" fmla="*/ 0 h 1243012"/>
              <a:gd name="connsiteX2" fmla="*/ 4046400 w 4253573"/>
              <a:gd name="connsiteY2" fmla="*/ 0 h 1243012"/>
              <a:gd name="connsiteX3" fmla="*/ 4253573 w 4253573"/>
              <a:gd name="connsiteY3" fmla="*/ 207173 h 1243012"/>
              <a:gd name="connsiteX4" fmla="*/ 4253573 w 4253573"/>
              <a:gd name="connsiteY4" fmla="*/ 1035839 h 1243012"/>
              <a:gd name="connsiteX5" fmla="*/ 4046400 w 4253573"/>
              <a:gd name="connsiteY5" fmla="*/ 1243012 h 1243012"/>
              <a:gd name="connsiteX6" fmla="*/ 207173 w 4253573"/>
              <a:gd name="connsiteY6" fmla="*/ 1243012 h 1243012"/>
              <a:gd name="connsiteX7" fmla="*/ 0 w 4253573"/>
              <a:gd name="connsiteY7" fmla="*/ 1035839 h 1243012"/>
              <a:gd name="connsiteX8" fmla="*/ 0 w 4253573"/>
              <a:gd name="connsiteY8" fmla="*/ 207173 h 12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3573" h="1243012">
                <a:moveTo>
                  <a:pt x="0" y="207173"/>
                </a:moveTo>
                <a:cubicBezTo>
                  <a:pt x="0" y="92755"/>
                  <a:pt x="92755" y="0"/>
                  <a:pt x="207173" y="0"/>
                </a:cubicBezTo>
                <a:lnTo>
                  <a:pt x="4046400" y="0"/>
                </a:lnTo>
                <a:cubicBezTo>
                  <a:pt x="4160818" y="0"/>
                  <a:pt x="4253573" y="92755"/>
                  <a:pt x="4253573" y="207173"/>
                </a:cubicBezTo>
                <a:lnTo>
                  <a:pt x="4253573" y="1035839"/>
                </a:lnTo>
                <a:cubicBezTo>
                  <a:pt x="4253573" y="1150257"/>
                  <a:pt x="4160818" y="1243012"/>
                  <a:pt x="4046400" y="1243012"/>
                </a:cubicBezTo>
                <a:lnTo>
                  <a:pt x="207173" y="1243012"/>
                </a:lnTo>
                <a:cubicBezTo>
                  <a:pt x="92755" y="1243012"/>
                  <a:pt x="0" y="1150257"/>
                  <a:pt x="0" y="1035839"/>
                </a:cubicBezTo>
                <a:lnTo>
                  <a:pt x="0" y="20717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019" tIns="87349" rIns="114019" bIns="87349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O" sz="1400" b="1" i="0" u="none" kern="1200" dirty="0"/>
              <a:t>Fase I. </a:t>
            </a:r>
            <a:r>
              <a:rPr lang="es-CO" sz="1400" b="1" dirty="0"/>
              <a:t>Levantamiento de información y análisis de requerimientos</a:t>
            </a:r>
            <a:endParaRPr lang="es-CO" sz="1100" b="0" kern="1200" dirty="0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DDA3D01C-3179-4201-B6FA-82004D1D2BE1}"/>
              </a:ext>
            </a:extLst>
          </p:cNvPr>
          <p:cNvSpPr/>
          <p:nvPr/>
        </p:nvSpPr>
        <p:spPr>
          <a:xfrm>
            <a:off x="4412103" y="2883761"/>
            <a:ext cx="7561909" cy="557421"/>
          </a:xfrm>
          <a:custGeom>
            <a:avLst/>
            <a:gdLst>
              <a:gd name="connsiteX0" fmla="*/ 165738 w 994409"/>
              <a:gd name="connsiteY0" fmla="*/ 0 h 7561908"/>
              <a:gd name="connsiteX1" fmla="*/ 828671 w 994409"/>
              <a:gd name="connsiteY1" fmla="*/ 0 h 7561908"/>
              <a:gd name="connsiteX2" fmla="*/ 994409 w 994409"/>
              <a:gd name="connsiteY2" fmla="*/ 165738 h 7561908"/>
              <a:gd name="connsiteX3" fmla="*/ 994409 w 994409"/>
              <a:gd name="connsiteY3" fmla="*/ 7561908 h 7561908"/>
              <a:gd name="connsiteX4" fmla="*/ 994409 w 994409"/>
              <a:gd name="connsiteY4" fmla="*/ 7561908 h 7561908"/>
              <a:gd name="connsiteX5" fmla="*/ 0 w 994409"/>
              <a:gd name="connsiteY5" fmla="*/ 7561908 h 7561908"/>
              <a:gd name="connsiteX6" fmla="*/ 0 w 994409"/>
              <a:gd name="connsiteY6" fmla="*/ 7561908 h 7561908"/>
              <a:gd name="connsiteX7" fmla="*/ 0 w 994409"/>
              <a:gd name="connsiteY7" fmla="*/ 165738 h 7561908"/>
              <a:gd name="connsiteX8" fmla="*/ 165738 w 994409"/>
              <a:gd name="connsiteY8" fmla="*/ 0 h 7561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4409" h="7561908">
                <a:moveTo>
                  <a:pt x="994409" y="1260345"/>
                </a:moveTo>
                <a:lnTo>
                  <a:pt x="994409" y="6301563"/>
                </a:lnTo>
                <a:cubicBezTo>
                  <a:pt x="994409" y="6997634"/>
                  <a:pt x="984651" y="7561904"/>
                  <a:pt x="972614" y="7561904"/>
                </a:cubicBezTo>
                <a:lnTo>
                  <a:pt x="0" y="7561904"/>
                </a:lnTo>
                <a:lnTo>
                  <a:pt x="0" y="7561904"/>
                </a:lnTo>
                <a:lnTo>
                  <a:pt x="0" y="4"/>
                </a:lnTo>
                <a:lnTo>
                  <a:pt x="0" y="4"/>
                </a:lnTo>
                <a:lnTo>
                  <a:pt x="972614" y="4"/>
                </a:lnTo>
                <a:cubicBezTo>
                  <a:pt x="984651" y="4"/>
                  <a:pt x="994409" y="564274"/>
                  <a:pt x="994409" y="1260345"/>
                </a:cubicBez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1" tIns="101883" rIns="155223" bIns="101884" numCol="1" spcCol="1270" anchor="ctr" anchorCtr="0">
            <a:noAutofit/>
          </a:bodyPr>
          <a:lstStyle/>
          <a:p>
            <a:pPr marL="285750" lvl="1" indent="-285750" algn="just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MX" sz="1600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Se realizará el diseño del sistema de información, incluyendo arquitectura, base de datos e interfaces de usuario.</a:t>
            </a:r>
            <a:endParaRPr lang="es-CO" sz="1600" b="0" kern="1200" dirty="0">
              <a:solidFill>
                <a:schemeClr val="accent5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6011DF28-A963-4433-8056-F417FD4C656B}"/>
              </a:ext>
            </a:extLst>
          </p:cNvPr>
          <p:cNvSpPr/>
          <p:nvPr/>
        </p:nvSpPr>
        <p:spPr>
          <a:xfrm>
            <a:off x="138479" y="2871578"/>
            <a:ext cx="4253573" cy="605740"/>
          </a:xfrm>
          <a:custGeom>
            <a:avLst/>
            <a:gdLst>
              <a:gd name="connsiteX0" fmla="*/ 0 w 4253573"/>
              <a:gd name="connsiteY0" fmla="*/ 207173 h 1243012"/>
              <a:gd name="connsiteX1" fmla="*/ 207173 w 4253573"/>
              <a:gd name="connsiteY1" fmla="*/ 0 h 1243012"/>
              <a:gd name="connsiteX2" fmla="*/ 4046400 w 4253573"/>
              <a:gd name="connsiteY2" fmla="*/ 0 h 1243012"/>
              <a:gd name="connsiteX3" fmla="*/ 4253573 w 4253573"/>
              <a:gd name="connsiteY3" fmla="*/ 207173 h 1243012"/>
              <a:gd name="connsiteX4" fmla="*/ 4253573 w 4253573"/>
              <a:gd name="connsiteY4" fmla="*/ 1035839 h 1243012"/>
              <a:gd name="connsiteX5" fmla="*/ 4046400 w 4253573"/>
              <a:gd name="connsiteY5" fmla="*/ 1243012 h 1243012"/>
              <a:gd name="connsiteX6" fmla="*/ 207173 w 4253573"/>
              <a:gd name="connsiteY6" fmla="*/ 1243012 h 1243012"/>
              <a:gd name="connsiteX7" fmla="*/ 0 w 4253573"/>
              <a:gd name="connsiteY7" fmla="*/ 1035839 h 1243012"/>
              <a:gd name="connsiteX8" fmla="*/ 0 w 4253573"/>
              <a:gd name="connsiteY8" fmla="*/ 207173 h 12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3573" h="1243012">
                <a:moveTo>
                  <a:pt x="0" y="207173"/>
                </a:moveTo>
                <a:cubicBezTo>
                  <a:pt x="0" y="92755"/>
                  <a:pt x="92755" y="0"/>
                  <a:pt x="207173" y="0"/>
                </a:cubicBezTo>
                <a:lnTo>
                  <a:pt x="4046400" y="0"/>
                </a:lnTo>
                <a:cubicBezTo>
                  <a:pt x="4160818" y="0"/>
                  <a:pt x="4253573" y="92755"/>
                  <a:pt x="4253573" y="207173"/>
                </a:cubicBezTo>
                <a:lnTo>
                  <a:pt x="4253573" y="1035839"/>
                </a:lnTo>
                <a:cubicBezTo>
                  <a:pt x="4253573" y="1150257"/>
                  <a:pt x="4160818" y="1243012"/>
                  <a:pt x="4046400" y="1243012"/>
                </a:cubicBezTo>
                <a:lnTo>
                  <a:pt x="207173" y="1243012"/>
                </a:lnTo>
                <a:cubicBezTo>
                  <a:pt x="92755" y="1243012"/>
                  <a:pt x="0" y="1150257"/>
                  <a:pt x="0" y="1035839"/>
                </a:cubicBezTo>
                <a:lnTo>
                  <a:pt x="0" y="20717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019" tIns="87349" rIns="114019" bIns="87349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O" sz="1400" b="1" i="0" u="none" kern="1200" dirty="0"/>
              <a:t>Fase II. </a:t>
            </a:r>
            <a:r>
              <a:rPr lang="es-CO" sz="1400" b="1" dirty="0"/>
              <a:t>Diseño del sistema de  información</a:t>
            </a:r>
            <a:endParaRPr lang="es-CO" sz="1100" b="0" kern="1200" dirty="0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82FC8422-82AA-4732-8845-2FF95B5A6809}"/>
              </a:ext>
            </a:extLst>
          </p:cNvPr>
          <p:cNvSpPr/>
          <p:nvPr/>
        </p:nvSpPr>
        <p:spPr>
          <a:xfrm>
            <a:off x="4412103" y="4230719"/>
            <a:ext cx="7561909" cy="641952"/>
          </a:xfrm>
          <a:custGeom>
            <a:avLst/>
            <a:gdLst>
              <a:gd name="connsiteX0" fmla="*/ 165738 w 994409"/>
              <a:gd name="connsiteY0" fmla="*/ 0 h 7561908"/>
              <a:gd name="connsiteX1" fmla="*/ 828671 w 994409"/>
              <a:gd name="connsiteY1" fmla="*/ 0 h 7561908"/>
              <a:gd name="connsiteX2" fmla="*/ 994409 w 994409"/>
              <a:gd name="connsiteY2" fmla="*/ 165738 h 7561908"/>
              <a:gd name="connsiteX3" fmla="*/ 994409 w 994409"/>
              <a:gd name="connsiteY3" fmla="*/ 7561908 h 7561908"/>
              <a:gd name="connsiteX4" fmla="*/ 994409 w 994409"/>
              <a:gd name="connsiteY4" fmla="*/ 7561908 h 7561908"/>
              <a:gd name="connsiteX5" fmla="*/ 0 w 994409"/>
              <a:gd name="connsiteY5" fmla="*/ 7561908 h 7561908"/>
              <a:gd name="connsiteX6" fmla="*/ 0 w 994409"/>
              <a:gd name="connsiteY6" fmla="*/ 7561908 h 7561908"/>
              <a:gd name="connsiteX7" fmla="*/ 0 w 994409"/>
              <a:gd name="connsiteY7" fmla="*/ 165738 h 7561908"/>
              <a:gd name="connsiteX8" fmla="*/ 165738 w 994409"/>
              <a:gd name="connsiteY8" fmla="*/ 0 h 7561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4409" h="7561908">
                <a:moveTo>
                  <a:pt x="994409" y="1260345"/>
                </a:moveTo>
                <a:lnTo>
                  <a:pt x="994409" y="6301563"/>
                </a:lnTo>
                <a:cubicBezTo>
                  <a:pt x="994409" y="6997634"/>
                  <a:pt x="984651" y="7561904"/>
                  <a:pt x="972614" y="7561904"/>
                </a:cubicBezTo>
                <a:lnTo>
                  <a:pt x="0" y="7561904"/>
                </a:lnTo>
                <a:lnTo>
                  <a:pt x="0" y="7561904"/>
                </a:lnTo>
                <a:lnTo>
                  <a:pt x="0" y="4"/>
                </a:lnTo>
                <a:lnTo>
                  <a:pt x="0" y="4"/>
                </a:lnTo>
                <a:lnTo>
                  <a:pt x="972614" y="4"/>
                </a:lnTo>
                <a:cubicBezTo>
                  <a:pt x="984651" y="4"/>
                  <a:pt x="994409" y="564274"/>
                  <a:pt x="994409" y="1260345"/>
                </a:cubicBez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1" tIns="101883" rIns="155223" bIns="101884" numCol="1" spcCol="1270" anchor="ctr" anchorCtr="0">
            <a:noAutofit/>
          </a:bodyPr>
          <a:lstStyle/>
          <a:p>
            <a:pPr marL="285750" lvl="1" indent="-285750" algn="just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MX" sz="1600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La población objeto corresponde a instructores, aprendices e integrantes del grupo de investigación del CGAO involucrados en procesos investigativos.</a:t>
            </a:r>
            <a:endParaRPr lang="es-CO" sz="1600" b="0" kern="1200" dirty="0">
              <a:solidFill>
                <a:schemeClr val="accent5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C205FC75-E63B-4CE9-B134-DD36F7D2CC73}"/>
              </a:ext>
            </a:extLst>
          </p:cNvPr>
          <p:cNvSpPr/>
          <p:nvPr/>
        </p:nvSpPr>
        <p:spPr>
          <a:xfrm>
            <a:off x="138480" y="4230719"/>
            <a:ext cx="4253573" cy="641952"/>
          </a:xfrm>
          <a:custGeom>
            <a:avLst/>
            <a:gdLst>
              <a:gd name="connsiteX0" fmla="*/ 0 w 4253573"/>
              <a:gd name="connsiteY0" fmla="*/ 207173 h 1243012"/>
              <a:gd name="connsiteX1" fmla="*/ 207173 w 4253573"/>
              <a:gd name="connsiteY1" fmla="*/ 0 h 1243012"/>
              <a:gd name="connsiteX2" fmla="*/ 4046400 w 4253573"/>
              <a:gd name="connsiteY2" fmla="*/ 0 h 1243012"/>
              <a:gd name="connsiteX3" fmla="*/ 4253573 w 4253573"/>
              <a:gd name="connsiteY3" fmla="*/ 207173 h 1243012"/>
              <a:gd name="connsiteX4" fmla="*/ 4253573 w 4253573"/>
              <a:gd name="connsiteY4" fmla="*/ 1035839 h 1243012"/>
              <a:gd name="connsiteX5" fmla="*/ 4046400 w 4253573"/>
              <a:gd name="connsiteY5" fmla="*/ 1243012 h 1243012"/>
              <a:gd name="connsiteX6" fmla="*/ 207173 w 4253573"/>
              <a:gd name="connsiteY6" fmla="*/ 1243012 h 1243012"/>
              <a:gd name="connsiteX7" fmla="*/ 0 w 4253573"/>
              <a:gd name="connsiteY7" fmla="*/ 1035839 h 1243012"/>
              <a:gd name="connsiteX8" fmla="*/ 0 w 4253573"/>
              <a:gd name="connsiteY8" fmla="*/ 207173 h 12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3573" h="1243012">
                <a:moveTo>
                  <a:pt x="0" y="207173"/>
                </a:moveTo>
                <a:cubicBezTo>
                  <a:pt x="0" y="92755"/>
                  <a:pt x="92755" y="0"/>
                  <a:pt x="207173" y="0"/>
                </a:cubicBezTo>
                <a:lnTo>
                  <a:pt x="4046400" y="0"/>
                </a:lnTo>
                <a:cubicBezTo>
                  <a:pt x="4160818" y="0"/>
                  <a:pt x="4253573" y="92755"/>
                  <a:pt x="4253573" y="207173"/>
                </a:cubicBezTo>
                <a:lnTo>
                  <a:pt x="4253573" y="1035839"/>
                </a:lnTo>
                <a:cubicBezTo>
                  <a:pt x="4253573" y="1150257"/>
                  <a:pt x="4160818" y="1243012"/>
                  <a:pt x="4046400" y="1243012"/>
                </a:cubicBezTo>
                <a:lnTo>
                  <a:pt x="207173" y="1243012"/>
                </a:lnTo>
                <a:cubicBezTo>
                  <a:pt x="92755" y="1243012"/>
                  <a:pt x="0" y="1150257"/>
                  <a:pt x="0" y="1035839"/>
                </a:cubicBezTo>
                <a:lnTo>
                  <a:pt x="0" y="20717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019" tIns="87349" rIns="114019" bIns="87349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O" sz="1400" b="1" i="0" u="none" kern="1200" dirty="0"/>
              <a:t>Fase III. </a:t>
            </a:r>
            <a:r>
              <a:rPr lang="es-CO" sz="1400" b="1" dirty="0"/>
              <a:t>Desarrollo del sistema</a:t>
            </a:r>
            <a:endParaRPr lang="es-CO" sz="1200" b="0" kern="1200" dirty="0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AFAF1E8C-4C15-4C7E-8BAA-20E52BD0EF3C}"/>
              </a:ext>
            </a:extLst>
          </p:cNvPr>
          <p:cNvSpPr/>
          <p:nvPr/>
        </p:nvSpPr>
        <p:spPr>
          <a:xfrm>
            <a:off x="4441828" y="5626072"/>
            <a:ext cx="7561909" cy="588964"/>
          </a:xfrm>
          <a:custGeom>
            <a:avLst/>
            <a:gdLst>
              <a:gd name="connsiteX0" fmla="*/ 165738 w 994409"/>
              <a:gd name="connsiteY0" fmla="*/ 0 h 7561908"/>
              <a:gd name="connsiteX1" fmla="*/ 828671 w 994409"/>
              <a:gd name="connsiteY1" fmla="*/ 0 h 7561908"/>
              <a:gd name="connsiteX2" fmla="*/ 994409 w 994409"/>
              <a:gd name="connsiteY2" fmla="*/ 165738 h 7561908"/>
              <a:gd name="connsiteX3" fmla="*/ 994409 w 994409"/>
              <a:gd name="connsiteY3" fmla="*/ 7561908 h 7561908"/>
              <a:gd name="connsiteX4" fmla="*/ 994409 w 994409"/>
              <a:gd name="connsiteY4" fmla="*/ 7561908 h 7561908"/>
              <a:gd name="connsiteX5" fmla="*/ 0 w 994409"/>
              <a:gd name="connsiteY5" fmla="*/ 7561908 h 7561908"/>
              <a:gd name="connsiteX6" fmla="*/ 0 w 994409"/>
              <a:gd name="connsiteY6" fmla="*/ 7561908 h 7561908"/>
              <a:gd name="connsiteX7" fmla="*/ 0 w 994409"/>
              <a:gd name="connsiteY7" fmla="*/ 165738 h 7561908"/>
              <a:gd name="connsiteX8" fmla="*/ 165738 w 994409"/>
              <a:gd name="connsiteY8" fmla="*/ 0 h 7561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4409" h="7561908">
                <a:moveTo>
                  <a:pt x="994409" y="1260345"/>
                </a:moveTo>
                <a:lnTo>
                  <a:pt x="994409" y="6301563"/>
                </a:lnTo>
                <a:cubicBezTo>
                  <a:pt x="994409" y="6997634"/>
                  <a:pt x="984651" y="7561904"/>
                  <a:pt x="972614" y="7561904"/>
                </a:cubicBezTo>
                <a:lnTo>
                  <a:pt x="0" y="7561904"/>
                </a:lnTo>
                <a:lnTo>
                  <a:pt x="0" y="7561904"/>
                </a:lnTo>
                <a:lnTo>
                  <a:pt x="0" y="4"/>
                </a:lnTo>
                <a:lnTo>
                  <a:pt x="0" y="4"/>
                </a:lnTo>
                <a:lnTo>
                  <a:pt x="972614" y="4"/>
                </a:lnTo>
                <a:cubicBezTo>
                  <a:pt x="984651" y="4"/>
                  <a:pt x="994409" y="564274"/>
                  <a:pt x="994409" y="1260345"/>
                </a:cubicBez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1" tIns="101884" rIns="155223" bIns="101883" numCol="1" spcCol="1270" anchor="ctr" anchorCtr="0">
            <a:noAutofit/>
          </a:bodyPr>
          <a:lstStyle/>
          <a:p>
            <a:pPr marL="285750" lvl="1" indent="-285750" defTabSz="12446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MX" sz="1600" dirty="0">
                <a:solidFill>
                  <a:schemeClr val="accent5">
                    <a:lumMod val="85000"/>
                    <a:lumOff val="15000"/>
                  </a:schemeClr>
                </a:solidFill>
              </a:rPr>
              <a:t>Se desarrollarán pruebas funcionales y validación con usuarios para verificar el correcto funcionamiento del sistema.</a:t>
            </a:r>
            <a:endParaRPr lang="es-CO" sz="1600" kern="1200" dirty="0">
              <a:solidFill>
                <a:schemeClr val="accent5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ED0F076C-1A92-40F1-B4DA-8381930974A8}"/>
              </a:ext>
            </a:extLst>
          </p:cNvPr>
          <p:cNvSpPr/>
          <p:nvPr/>
        </p:nvSpPr>
        <p:spPr>
          <a:xfrm>
            <a:off x="188255" y="5626072"/>
            <a:ext cx="4253573" cy="641952"/>
          </a:xfrm>
          <a:custGeom>
            <a:avLst/>
            <a:gdLst>
              <a:gd name="connsiteX0" fmla="*/ 0 w 4253573"/>
              <a:gd name="connsiteY0" fmla="*/ 207173 h 1243012"/>
              <a:gd name="connsiteX1" fmla="*/ 207173 w 4253573"/>
              <a:gd name="connsiteY1" fmla="*/ 0 h 1243012"/>
              <a:gd name="connsiteX2" fmla="*/ 4046400 w 4253573"/>
              <a:gd name="connsiteY2" fmla="*/ 0 h 1243012"/>
              <a:gd name="connsiteX3" fmla="*/ 4253573 w 4253573"/>
              <a:gd name="connsiteY3" fmla="*/ 207173 h 1243012"/>
              <a:gd name="connsiteX4" fmla="*/ 4253573 w 4253573"/>
              <a:gd name="connsiteY4" fmla="*/ 1035839 h 1243012"/>
              <a:gd name="connsiteX5" fmla="*/ 4046400 w 4253573"/>
              <a:gd name="connsiteY5" fmla="*/ 1243012 h 1243012"/>
              <a:gd name="connsiteX6" fmla="*/ 207173 w 4253573"/>
              <a:gd name="connsiteY6" fmla="*/ 1243012 h 1243012"/>
              <a:gd name="connsiteX7" fmla="*/ 0 w 4253573"/>
              <a:gd name="connsiteY7" fmla="*/ 1035839 h 1243012"/>
              <a:gd name="connsiteX8" fmla="*/ 0 w 4253573"/>
              <a:gd name="connsiteY8" fmla="*/ 207173 h 12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3573" h="1243012">
                <a:moveTo>
                  <a:pt x="0" y="207173"/>
                </a:moveTo>
                <a:cubicBezTo>
                  <a:pt x="0" y="92755"/>
                  <a:pt x="92755" y="0"/>
                  <a:pt x="207173" y="0"/>
                </a:cubicBezTo>
                <a:lnTo>
                  <a:pt x="4046400" y="0"/>
                </a:lnTo>
                <a:cubicBezTo>
                  <a:pt x="4160818" y="0"/>
                  <a:pt x="4253573" y="92755"/>
                  <a:pt x="4253573" y="207173"/>
                </a:cubicBezTo>
                <a:lnTo>
                  <a:pt x="4253573" y="1035839"/>
                </a:lnTo>
                <a:cubicBezTo>
                  <a:pt x="4253573" y="1150257"/>
                  <a:pt x="4160818" y="1243012"/>
                  <a:pt x="4046400" y="1243012"/>
                </a:cubicBezTo>
                <a:lnTo>
                  <a:pt x="207173" y="1243012"/>
                </a:lnTo>
                <a:cubicBezTo>
                  <a:pt x="92755" y="1243012"/>
                  <a:pt x="0" y="1150257"/>
                  <a:pt x="0" y="1035839"/>
                </a:cubicBezTo>
                <a:lnTo>
                  <a:pt x="0" y="20717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019" tIns="87349" rIns="114019" bIns="87349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CO" sz="1400" b="1" i="0" u="none" kern="1200" dirty="0"/>
              <a:t>Fase IV</a:t>
            </a:r>
            <a:r>
              <a:rPr lang="es-CO" sz="1400" b="1" dirty="0"/>
              <a:t>. Pruebas funcionales y validación</a:t>
            </a:r>
            <a:endParaRPr lang="es-CO" sz="1200" kern="1200" dirty="0"/>
          </a:p>
        </p:txBody>
      </p:sp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F8944-05D9-A20A-8EE5-A307113AA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24F781-B7A3-6D9A-7DB1-C4B968448D43}"/>
              </a:ext>
            </a:extLst>
          </p:cNvPr>
          <p:cNvSpPr txBox="1">
            <a:spLocks/>
          </p:cNvSpPr>
          <p:nvPr/>
        </p:nvSpPr>
        <p:spPr>
          <a:xfrm>
            <a:off x="695325" y="416690"/>
            <a:ext cx="10142303" cy="52787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Resultados esperados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5B598D5-3C14-D3EB-EE9B-B3E5FF1F2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565" y="1278263"/>
            <a:ext cx="8877195" cy="535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45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048FC-D513-A2A9-266C-43052473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2D6CE59-5ABD-83D3-B302-2B81017D4057}"/>
              </a:ext>
            </a:extLst>
          </p:cNvPr>
          <p:cNvSpPr txBox="1">
            <a:spLocks/>
          </p:cNvSpPr>
          <p:nvPr/>
        </p:nvSpPr>
        <p:spPr>
          <a:xfrm>
            <a:off x="695325" y="416690"/>
            <a:ext cx="10142303" cy="52787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Cronograma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4F26C57-385E-1CD6-28E4-DDC368641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004316"/>
              </p:ext>
            </p:extLst>
          </p:nvPr>
        </p:nvGraphicFramePr>
        <p:xfrm>
          <a:off x="1524000" y="2040466"/>
          <a:ext cx="882904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>
                  <a:extLst>
                    <a:ext uri="{9D8B030D-6E8A-4147-A177-3AD203B41FA5}">
                      <a16:colId xmlns:a16="http://schemas.microsoft.com/office/drawing/2014/main" val="382109889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8230291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75544361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3733836666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197464541"/>
                    </a:ext>
                  </a:extLst>
                </a:gridCol>
                <a:gridCol w="802642">
                  <a:extLst>
                    <a:ext uri="{9D8B030D-6E8A-4147-A177-3AD203B41FA5}">
                      <a16:colId xmlns:a16="http://schemas.microsoft.com/office/drawing/2014/main" val="3698940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Actividad</a:t>
                      </a:r>
                      <a:endParaRPr lang="es-C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Mes 1</a:t>
                      </a:r>
                      <a:endParaRPr lang="es-C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Mes 2</a:t>
                      </a:r>
                      <a:endParaRPr lang="es-C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Mes 3 </a:t>
                      </a:r>
                      <a:endParaRPr lang="es-C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Mes 4</a:t>
                      </a:r>
                      <a:endParaRPr lang="es-C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Mes 5</a:t>
                      </a:r>
                      <a:endParaRPr lang="es-CO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590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chemeClr val="accent5"/>
                          </a:solidFill>
                        </a:rPr>
                        <a:t>Diagnóstico y levantamiento de información</a:t>
                      </a:r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accent5"/>
                          </a:solidFill>
                        </a:rPr>
                        <a:t>X</a:t>
                      </a:r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668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chemeClr val="accent5"/>
                          </a:solidFill>
                        </a:rPr>
                        <a:t>Análisis de requerimientos</a:t>
                      </a:r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accent5"/>
                          </a:solidFill>
                        </a:rPr>
                        <a:t>X</a:t>
                      </a:r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accent5"/>
                          </a:solidFill>
                        </a:rPr>
                        <a:t>X</a:t>
                      </a:r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577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chemeClr val="accent5"/>
                          </a:solidFill>
                        </a:rPr>
                        <a:t>Diseño del sistema y base de datos</a:t>
                      </a:r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accent5"/>
                          </a:solidFill>
                        </a:rPr>
                        <a:t>X</a:t>
                      </a:r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273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>
                          <a:solidFill>
                            <a:schemeClr val="accent5"/>
                          </a:solidFill>
                        </a:rPr>
                        <a:t>Desarrollo del 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accent5"/>
                          </a:solidFill>
                        </a:rPr>
                        <a:t>X</a:t>
                      </a:r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accent5"/>
                          </a:solidFill>
                        </a:rPr>
                        <a:t>X</a:t>
                      </a:r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21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>
                          <a:solidFill>
                            <a:schemeClr val="accent5"/>
                          </a:solidFill>
                        </a:rPr>
                        <a:t>Pruebas y validación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accent5"/>
                          </a:solidFill>
                        </a:rPr>
                        <a:t>X</a:t>
                      </a:r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16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>
                          <a:solidFill>
                            <a:schemeClr val="accent5"/>
                          </a:solidFill>
                        </a:rPr>
                        <a:t>Ajustes finales e implementación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accent5"/>
                          </a:solidFill>
                        </a:rPr>
                        <a:t>X</a:t>
                      </a:r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55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>
                          <a:solidFill>
                            <a:schemeClr val="accent5"/>
                          </a:solidFill>
                        </a:rPr>
                        <a:t>Elaboración de informe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chemeClr val="accent5"/>
                          </a:solidFill>
                        </a:rPr>
                        <a:t>X</a:t>
                      </a:r>
                      <a:endParaRPr lang="es-CO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489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5558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ysClr val="window" lastClr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5676</TotalTime>
  <Words>750</Words>
  <Application>Microsoft Office PowerPoint</Application>
  <PresentationFormat>Panorámica</PresentationFormat>
  <Paragraphs>78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4" baseType="lpstr">
      <vt:lpstr>Arial</vt:lpstr>
      <vt:lpstr>Arial MT</vt:lpstr>
      <vt:lpstr>Arial, sans-serif</vt:lpstr>
      <vt:lpstr>Calibri</vt:lpstr>
      <vt:lpstr>Calibri Light</vt:lpstr>
      <vt:lpstr>Wingdings</vt:lpstr>
      <vt:lpstr>Work Sans</vt:lpstr>
      <vt:lpstr>Work Sans Bold Roman</vt:lpstr>
      <vt:lpstr>Work Sans Bold Roman</vt:lpstr>
      <vt:lpstr>Work Sans Light Roman</vt:lpstr>
      <vt:lpstr>WORK SANS SEMIBOLD ROMAN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Alba Zoraida Vargas Hurtado</cp:lastModifiedBy>
  <cp:revision>139</cp:revision>
  <dcterms:created xsi:type="dcterms:W3CDTF">2020-10-01T23:51:28Z</dcterms:created>
  <dcterms:modified xsi:type="dcterms:W3CDTF">2026-05-27T18:03:17Z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